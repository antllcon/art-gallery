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364" r:id="rId5"/>
    <p:sldId id="365" r:id="rId6"/>
    <p:sldId id="265" r:id="rId7"/>
    <p:sldId id="362" r:id="rId8"/>
    <p:sldId id="291" r:id="rId9"/>
    <p:sldId id="293" r:id="rId10"/>
    <p:sldId id="262" r:id="rId11"/>
    <p:sldId id="277" r:id="rId12"/>
    <p:sldId id="363" r:id="rId13"/>
    <p:sldId id="288" r:id="rId14"/>
    <p:sldId id="263" r:id="rId15"/>
    <p:sldId id="289" r:id="rId16"/>
    <p:sldId id="366" r:id="rId17"/>
    <p:sldId id="264" r:id="rId18"/>
    <p:sldId id="274" r:id="rId19"/>
    <p:sldId id="367" r:id="rId20"/>
    <p:sldId id="369" r:id="rId21"/>
    <p:sldId id="371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77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E47FAE-7CEB-1A8C-07CF-0A835A55A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FE4B55-3AE2-2F9C-865A-3CE6CB473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1C815E-B9CA-B7A4-6B23-9383689FF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DD526F-CBC4-0AC5-A5DE-DDE3A3A2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DCA680-0AD8-6302-CBBB-4946ACAAE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794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386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988644-0E93-3363-3ED5-F0605CBF0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ED669B-9116-B294-8072-A35452047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778E6C-54A6-F97D-9E94-9602823C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061DC0-E238-6CD3-36D4-F5E0E6D4E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182655-82CF-DE05-DD65-ED338ACB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111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984D4D-9753-D3A9-E24A-8F26BC8CC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3DF50E-439B-5297-0538-8D873C366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0A2CC4-8C45-718E-8748-56850C79B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EC9CBC-1164-0D6B-3DDE-FCA552C71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FC1296-FFC1-D80C-5F05-236EE181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823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61B36E-A635-31E5-20FC-0A28C0441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7DA0CE-33EB-ACB6-5D8C-62771B2C6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55FB84-3B62-11FC-BADB-0CC331F53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203222-BCF8-BC93-199A-FB0117EA3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A7554A-E3FF-755B-791D-EA0C4C67E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680759-B447-516E-6784-B830157C1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720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283F4A-7B16-2DD9-D313-E9D893C9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5B86F8-F692-920D-005E-A59C50210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CD940E-B132-92E1-2C20-04B44AADE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CE11D4-8557-FA7E-D927-71CB8BF0B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5C9D972-1075-143C-B071-2E1788BDA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5C52461-0BB6-1488-ECA3-9EE735B77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4B6AA5F-FFFF-4FA9-5310-67F009D1D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B473069-0C6C-D3F7-BC81-C6DC0271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03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35F4A0-94D6-0D4C-C348-EF56CA7A9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03EC721-A186-358E-F85C-D0F77F449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A6EAB19-BA8F-EBBC-11E3-D375A887F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C69F74-1E52-FF2F-8D0C-62EEC4247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944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52EE020-CA6F-9108-4FF8-26A77D173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8DB28F2-528A-7DE4-AFCF-8C38E2ADF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F57E9B-279D-DACC-2910-C5584558D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918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8455E4-588B-0775-6008-828B0A657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47F7F-BCF0-E21A-2815-ADCF7DF78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3AFC81-F203-EAFC-0025-66C06C636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AD4733-9180-06BF-F88D-EFAB9D394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EC1BBB-16DB-F7A9-B6A6-2BCDADFB0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CF6C7F0-D6BF-4AB3-9BEC-3B042560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545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F2DED5-04C7-4AAE-DF4B-393982072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41EAA2A-1A22-06A7-1C92-EF67D656E4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6676A4-CF17-4211-8EDE-3ED2696B8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DF13EE-27AF-BDC3-F473-83CB6B67D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39E47E-6F7E-81A7-C925-1B1944920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943A82-87B5-7738-E6F4-9A5C3CF9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308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EDFA2F-77F1-8EB3-684A-4E926B9F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BB0E2F-EE73-1E97-A84E-6F47F88AC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DC3890-4EDC-8027-03CC-95CA1C7AF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35E2E5-3107-6C9E-560D-E110A60C2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4D7735-BC02-B7FF-ACAD-CB3D46C05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1033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9D3597-2524-CD9D-AD3C-0DC905AFD1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5CBE3D2-65C8-4853-31F6-C55F57818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A6249E-8C62-A318-9F82-E7F6D4F3E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355BF8-3977-2E2A-4E85-641F45A97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3D9A94-207A-44F8-4B19-A5C6418ED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274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21F760-EE1A-B1A1-CEC9-9330EF33C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49959F-23B6-55D9-353A-FDD49907D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A2F3B0-A1C7-E96A-B0AA-5B3D1B7E6F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B4CF7-4AF6-4F22-BEAD-2FF1E49FC008}" type="datetimeFigureOut">
              <a:rPr lang="ru-RU" smtClean="0"/>
              <a:t>25.04.2025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9A8AFD-931A-32B7-8484-1510FD869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858EC8-F0E9-FD89-1484-1F138B393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63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79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223" userDrawn="1">
          <p15:clr>
            <a:srgbClr val="F26B43"/>
          </p15:clr>
        </p15:guide>
        <p15:guide id="4" orient="horz" pos="1457" userDrawn="1">
          <p15:clr>
            <a:srgbClr val="F26B43"/>
          </p15:clr>
        </p15:guide>
        <p15:guide id="5" orient="horz" pos="2160" userDrawn="1">
          <p15:clr>
            <a:srgbClr val="F26B43"/>
          </p15:clr>
        </p15:guide>
        <p15:guide id="6" orient="horz" pos="2840" userDrawn="1">
          <p15:clr>
            <a:srgbClr val="F26B43"/>
          </p15:clr>
        </p15:guide>
        <p15:guide id="7" orient="horz" pos="459" userDrawn="1">
          <p15:clr>
            <a:srgbClr val="F26B43"/>
          </p15:clr>
        </p15:guide>
        <p15:guide id="8" pos="665" userDrawn="1">
          <p15:clr>
            <a:srgbClr val="F26B43"/>
          </p15:clr>
        </p15:guide>
        <p15:guide id="9" pos="701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9955EB-07EA-A618-5BD6-A23E49C79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1185"/>
            <a:ext cx="9144000" cy="1526830"/>
          </a:xfrm>
        </p:spPr>
        <p:txBody>
          <a:bodyPr>
            <a:normAutofit/>
          </a:bodyPr>
          <a:lstStyle/>
          <a:p>
            <a:r>
              <a:rPr lang="ru-RU" sz="5000" dirty="0"/>
              <a:t>Расстановка охранников </a:t>
            </a:r>
            <a:br>
              <a:rPr lang="ru-RU" sz="5000" dirty="0"/>
            </a:br>
            <a:r>
              <a:rPr lang="ru-RU" sz="5000" dirty="0"/>
              <a:t>в художественной галерее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67FEE4-C78F-3821-024E-152305C89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0767" y="3947823"/>
            <a:ext cx="6736125" cy="185698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ru-RU" dirty="0"/>
              <a:t>Выполнил: студент группы ПС–21 очной формы обучения Глухарев Степан Викторович</a:t>
            </a:r>
          </a:p>
          <a:p>
            <a:pPr algn="l"/>
            <a:r>
              <a:rPr lang="ru-RU" dirty="0"/>
              <a:t>Руководитель: доцент, кандидат физ-мат наук</a:t>
            </a:r>
            <a:br>
              <a:rPr lang="ru-RU" dirty="0"/>
            </a:br>
            <a:r>
              <a:rPr lang="ru-RU" dirty="0"/>
              <a:t>Козлов Александр Иванович</a:t>
            </a:r>
          </a:p>
        </p:txBody>
      </p:sp>
    </p:spTree>
    <p:extLst>
      <p:ext uri="{BB962C8B-B14F-4D97-AF65-F5344CB8AC3E}">
        <p14:creationId xmlns:p14="http://schemas.microsoft.com/office/powerpoint/2010/main" val="4040407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3DABDE-1979-0E88-26E9-520CE9939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6" y="728663"/>
            <a:ext cx="10080625" cy="784452"/>
          </a:xfrm>
        </p:spPr>
        <p:txBody>
          <a:bodyPr>
            <a:normAutofit/>
          </a:bodyPr>
          <a:lstStyle/>
          <a:p>
            <a:r>
              <a:rPr lang="ru-RU" sz="4000" dirty="0"/>
              <a:t>Формулировка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31CA5-7026-0B76-A8C7-C1EDB1DE4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7" y="1694997"/>
            <a:ext cx="10080625" cy="1235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Директор музея хочет, чтобы каждая точка музея постоянно наблюдалась охранником. Охранники располагаются в стационарных пунктах, но могут поворачиваться. Сколько охранников необходимо?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9EF745-1B65-BAF6-043B-8CA354177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305" y="2816406"/>
            <a:ext cx="5997389" cy="374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51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B363FD-6FE4-A032-0C54-EE8EDDB9B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633" y="730705"/>
            <a:ext cx="10077680" cy="962025"/>
          </a:xfrm>
        </p:spPr>
        <p:txBody>
          <a:bodyPr>
            <a:normAutofit/>
          </a:bodyPr>
          <a:lstStyle/>
          <a:p>
            <a:r>
              <a:rPr lang="ru-RU" sz="4000" dirty="0"/>
              <a:t>Математическая модель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5B0EF4C-D9B9-FA62-DF05-F967F4B3D7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5688" y="1943741"/>
                <a:ext cx="10077680" cy="41835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dirty="0"/>
                  <a:t>В задаче рассматривается многоугольник с отверстиями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2400" dirty="0"/>
                  <a:t>, представляющий собой часть плоскости, ограниченную замкнутой не самопересекающейся ломанной.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2400" dirty="0"/>
                  <a:t> состоит из внешней границы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ru-RU" sz="2400" dirty="0"/>
                  <a:t> и множества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ru-RU" sz="2400" dirty="0"/>
                  <a:t> внутренних границ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𝑖𝑛𝑡</m:t>
                        </m:r>
                      </m:sub>
                      <m:sup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ru-RU" sz="2400" i="1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𝑖𝑛𝑡</m:t>
                        </m:r>
                      </m:sub>
                      <m:sup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</m:oMath>
                </a14:m>
                <a:r>
                  <a:rPr lang="ru-RU" sz="2400" dirty="0"/>
                  <a:t> соответствующих отверстиям, внутри которых размещение охранников запрещено.</a:t>
                </a:r>
              </a:p>
              <a:p>
                <a:pPr marL="0" indent="0">
                  <a:buNone/>
                </a:pPr>
                <a:r>
                  <a:rPr lang="ru-RU" sz="2400" dirty="0"/>
                  <a:t>Требуется найти минимальное число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400" dirty="0"/>
                  <a:t> или определить, существует ли множество охранников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sz="2400" dirty="0"/>
                  <a:t>, состоящее из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400" dirty="0"/>
                  <a:t> вершин многоугольника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2400" dirty="0"/>
                  <a:t>, таких, что каждая точка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2400" dirty="0"/>
                  <a:t> принадлежащей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2400" dirty="0"/>
                  <a:t> видна хотя бы одному охраннику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ru-RU" sz="2400" dirty="0"/>
                  <a:t> принадлежащему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sz="2400" dirty="0"/>
                  <a:t>. Охранник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ru-RU" sz="2400" dirty="0"/>
                  <a:t> – это одна из вершин многоугольника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2400" dirty="0"/>
                  <a:t>. Он видит точку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2400" dirty="0"/>
                  <a:t>, только если отрезок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полностью содержится в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2400" dirty="0"/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5B0EF4C-D9B9-FA62-DF05-F967F4B3D7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5688" y="1943741"/>
                <a:ext cx="10077680" cy="4183554"/>
              </a:xfrm>
              <a:blipFill>
                <a:blip r:embed="rId2"/>
                <a:stretch>
                  <a:fillRect l="-907" t="-1895" r="-11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128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3DABDE-1979-0E88-26E9-520CE9939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6" y="728663"/>
            <a:ext cx="10080625" cy="784452"/>
          </a:xfrm>
        </p:spPr>
        <p:txBody>
          <a:bodyPr>
            <a:normAutofit/>
          </a:bodyPr>
          <a:lstStyle/>
          <a:p>
            <a:r>
              <a:rPr lang="ru-RU" sz="4000" dirty="0"/>
              <a:t>Доказательство</a:t>
            </a:r>
            <a:r>
              <a:rPr lang="en-US" sz="4000" dirty="0"/>
              <a:t>.</a:t>
            </a:r>
            <a:r>
              <a:rPr lang="ru-RU" sz="4000" dirty="0"/>
              <a:t> </a:t>
            </a:r>
            <a:r>
              <a:rPr lang="en-US" sz="4000" dirty="0"/>
              <a:t>(</a:t>
            </a:r>
            <a:r>
              <a:rPr lang="ru-RU" sz="4000" dirty="0"/>
              <a:t>Стив Фикс</a:t>
            </a:r>
            <a:r>
              <a:rPr lang="en-US" sz="4000" dirty="0"/>
              <a:t> 1982</a:t>
            </a:r>
            <a:r>
              <a:rPr lang="ru-RU" sz="4000" dirty="0"/>
              <a:t> г.)</a:t>
            </a:r>
          </a:p>
        </p:txBody>
      </p:sp>
      <p:pic>
        <p:nvPicPr>
          <p:cNvPr id="6" name="Объект 3">
            <a:extLst>
              <a:ext uri="{FF2B5EF4-FFF2-40B4-BE49-F238E27FC236}">
                <a16:creationId xmlns:a16="http://schemas.microsoft.com/office/drawing/2014/main" id="{DD26CB17-5505-F7F5-DBF0-EB424FE91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958" y="1954599"/>
            <a:ext cx="6934593" cy="4299552"/>
          </a:xfrm>
        </p:spPr>
      </p:pic>
    </p:spTree>
    <p:extLst>
      <p:ext uri="{BB962C8B-B14F-4D97-AF65-F5344CB8AC3E}">
        <p14:creationId xmlns:p14="http://schemas.microsoft.com/office/powerpoint/2010/main" val="684692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3DABDE-1979-0E88-26E9-520CE9939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6" y="728663"/>
            <a:ext cx="10080625" cy="784452"/>
          </a:xfrm>
        </p:spPr>
        <p:txBody>
          <a:bodyPr>
            <a:normAutofit/>
          </a:bodyPr>
          <a:lstStyle/>
          <a:p>
            <a:r>
              <a:rPr lang="ru-RU" sz="4000" dirty="0"/>
              <a:t>Доказательство</a:t>
            </a:r>
          </a:p>
        </p:txBody>
      </p:sp>
      <p:pic>
        <p:nvPicPr>
          <p:cNvPr id="5" name="Объект 3">
            <a:extLst>
              <a:ext uri="{FF2B5EF4-FFF2-40B4-BE49-F238E27FC236}">
                <a16:creationId xmlns:a16="http://schemas.microsoft.com/office/drawing/2014/main" id="{DD26CB17-5505-F7F5-DBF0-EB424FE91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4958" y="1954599"/>
            <a:ext cx="6934593" cy="429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090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Объект 15">
            <a:extLst>
              <a:ext uri="{FF2B5EF4-FFF2-40B4-BE49-F238E27FC236}">
                <a16:creationId xmlns:a16="http://schemas.microsoft.com/office/drawing/2014/main" id="{D774AC44-056B-8856-C4B4-96C84003F4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481" y="2401747"/>
            <a:ext cx="6213154" cy="381158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418690D-7E64-CDF1-C37B-3A997D460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6" y="728663"/>
            <a:ext cx="10080625" cy="784452"/>
          </a:xfrm>
        </p:spPr>
        <p:txBody>
          <a:bodyPr>
            <a:normAutofit/>
          </a:bodyPr>
          <a:lstStyle/>
          <a:p>
            <a:r>
              <a:rPr lang="ru-RU" sz="4000" dirty="0"/>
              <a:t>Доказательство</a:t>
            </a:r>
          </a:p>
        </p:txBody>
      </p:sp>
    </p:spTree>
    <p:extLst>
      <p:ext uri="{BB962C8B-B14F-4D97-AF65-F5344CB8AC3E}">
        <p14:creationId xmlns:p14="http://schemas.microsoft.com/office/powerpoint/2010/main" val="2226260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5DBD9CEF-6A5A-2893-806A-C5419CF3A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239" y="0"/>
            <a:ext cx="7439047" cy="6802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0416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E23139-BDEE-F4FF-FA2D-E225B9D24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2312987"/>
            <a:ext cx="9896021" cy="699153"/>
          </a:xfrm>
        </p:spPr>
        <p:txBody>
          <a:bodyPr>
            <a:noAutofit/>
          </a:bodyPr>
          <a:lstStyle/>
          <a:p>
            <a:r>
              <a:rPr lang="ru-RU" sz="4000" dirty="0"/>
              <a:t>Цель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FAC4FF-0189-8E25-81A5-2F65EA95F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5687" y="3147103"/>
            <a:ext cx="10080626" cy="1120097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Обзор и анализ апроксимационного алгоритма для решения задачи поиска минимального количества охранников.</a:t>
            </a:r>
          </a:p>
        </p:txBody>
      </p:sp>
    </p:spTree>
    <p:extLst>
      <p:ext uri="{BB962C8B-B14F-4D97-AF65-F5344CB8AC3E}">
        <p14:creationId xmlns:p14="http://schemas.microsoft.com/office/powerpoint/2010/main" val="721761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191649-35E0-4BD9-D93F-F594B857F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4332"/>
            <a:ext cx="9816193" cy="673127"/>
          </a:xfrm>
        </p:spPr>
        <p:txBody>
          <a:bodyPr>
            <a:normAutofit/>
          </a:bodyPr>
          <a:lstStyle/>
          <a:p>
            <a:r>
              <a:rPr lang="ru-RU" sz="4000" dirty="0"/>
              <a:t>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2E1678-DE54-C589-8605-47B84DF81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852" y="1553822"/>
            <a:ext cx="10072461" cy="4836036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u-RU" sz="2400" dirty="0"/>
              <a:t>Провести обзор существующих алгоритмов, направленных</a:t>
            </a:r>
            <a:br>
              <a:rPr lang="ru-RU" sz="2400" dirty="0"/>
            </a:br>
            <a:r>
              <a:rPr lang="ru-RU" sz="2400" dirty="0"/>
              <a:t>на решение задачи охраны музейной галереи, и выявить</a:t>
            </a:r>
            <a:br>
              <a:rPr lang="ru-RU" sz="2400" dirty="0"/>
            </a:br>
            <a:r>
              <a:rPr lang="ru-RU" sz="2400" dirty="0"/>
              <a:t>наиболее эффективные из них.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u-RU" sz="2400" dirty="0"/>
              <a:t>Скорректировать выбранный алгоритм и обосновать</a:t>
            </a:r>
            <a:br>
              <a:rPr lang="ru-RU" sz="2400" dirty="0"/>
            </a:br>
            <a:r>
              <a:rPr lang="ru-RU" sz="2400" dirty="0"/>
              <a:t>его эффективность.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u-RU" sz="2400" dirty="0"/>
              <a:t>Разработать программную реализацию модификации</a:t>
            </a:r>
            <a:br>
              <a:rPr lang="ru-RU" sz="2400" dirty="0"/>
            </a:br>
            <a:r>
              <a:rPr lang="ru-RU" sz="2400" dirty="0"/>
              <a:t>существующего алгоритма.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u-RU" sz="2400" dirty="0"/>
              <a:t>Провести тестирование алгоритма в рамках абстрактной модели.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u-RU" sz="2400" dirty="0"/>
              <a:t>Адаптировать программу к реальной модели и провести</a:t>
            </a:r>
            <a:br>
              <a:rPr lang="ru-RU" sz="2400" dirty="0"/>
            </a:br>
            <a:r>
              <a:rPr lang="ru-RU" sz="2400" dirty="0"/>
              <a:t>дополнительные тесты.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u-RU" sz="2400" dirty="0"/>
              <a:t>Разработать графический интерфейс для удобства</a:t>
            </a:r>
            <a:br>
              <a:rPr lang="ru-RU" sz="2400" dirty="0"/>
            </a:br>
            <a:r>
              <a:rPr lang="ru-RU" sz="2400" dirty="0"/>
              <a:t>использования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3332487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191649-35E0-4BD9-D93F-F594B857F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728664"/>
            <a:ext cx="10080625" cy="678796"/>
          </a:xfrm>
        </p:spPr>
        <p:txBody>
          <a:bodyPr>
            <a:normAutofit/>
          </a:bodyPr>
          <a:lstStyle/>
          <a:p>
            <a:r>
              <a:rPr lang="ru-RU" sz="4000" dirty="0"/>
              <a:t>Конкретизация вида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2E1678-DE54-C589-8605-47B84DF81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7" y="1533011"/>
            <a:ext cx="10080625" cy="3791977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u-RU" sz="2400" dirty="0"/>
              <a:t>Галерея представлена простым многоугольником</a:t>
            </a:r>
            <a:r>
              <a:rPr lang="en-US" sz="2400" dirty="0"/>
              <a:t> </a:t>
            </a:r>
            <a:r>
              <a:rPr lang="ru-RU" sz="2400" dirty="0"/>
              <a:t>с отверстиями.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u-RU" sz="2400" dirty="0"/>
              <a:t>Охранники располагаются в вершинах многоугольника.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u-RU" sz="2400" dirty="0"/>
              <a:t>Охранники могут видеть во всех направлениях</a:t>
            </a:r>
            <a:br>
              <a:rPr lang="ru-RU" sz="2400" dirty="0"/>
            </a:br>
            <a:r>
              <a:rPr lang="ru-RU" sz="2400" dirty="0"/>
              <a:t>и не могут перемещаться.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u-RU" sz="2400" dirty="0"/>
              <a:t>Необходимо минимизировать количество охранников.</a:t>
            </a:r>
          </a:p>
        </p:txBody>
      </p:sp>
    </p:spTree>
    <p:extLst>
      <p:ext uri="{BB962C8B-B14F-4D97-AF65-F5344CB8AC3E}">
        <p14:creationId xmlns:p14="http://schemas.microsoft.com/office/powerpoint/2010/main" val="4173950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D51D08-4E36-3C59-C285-A89819162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730384"/>
            <a:ext cx="10072461" cy="677075"/>
          </a:xfrm>
        </p:spPr>
        <p:txBody>
          <a:bodyPr>
            <a:normAutofit/>
          </a:bodyPr>
          <a:lstStyle/>
          <a:p>
            <a:r>
              <a:rPr lang="ru-RU" sz="4000" dirty="0"/>
              <a:t>Выпуклые многоугольники</a:t>
            </a:r>
          </a:p>
        </p:txBody>
      </p:sp>
      <p:pic>
        <p:nvPicPr>
          <p:cNvPr id="7" name="Рисунок 6" descr="Изображение выглядит как треугольник, линия&#10;&#10;Автоматически созданное описание">
            <a:extLst>
              <a:ext uri="{FF2B5EF4-FFF2-40B4-BE49-F238E27FC236}">
                <a16:creationId xmlns:a16="http://schemas.microsoft.com/office/drawing/2014/main" id="{5C2287FC-D039-C102-88C4-24C7D5427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600" y="2718596"/>
            <a:ext cx="3127153" cy="2817812"/>
          </a:xfrm>
          <a:prstGeom prst="rect">
            <a:avLst/>
          </a:prstGeom>
        </p:spPr>
      </p:pic>
      <p:pic>
        <p:nvPicPr>
          <p:cNvPr id="8" name="Объект 4" descr="Изображение выглядит как диаграмма, линия, снимок экран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8ED7B39-277F-BE76-73A7-F2C29BF809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794" y="2964829"/>
            <a:ext cx="3965144" cy="24687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A6B241-AA3E-942F-EEDF-0E7B669FE535}"/>
              </a:ext>
            </a:extLst>
          </p:cNvPr>
          <p:cNvSpPr txBox="1"/>
          <p:nvPr/>
        </p:nvSpPr>
        <p:spPr>
          <a:xfrm>
            <a:off x="1055688" y="1524413"/>
            <a:ext cx="88523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Каждый выпуклый компонент либо полностью виден, либо полностью не виден из вершины многоугольника.</a:t>
            </a:r>
          </a:p>
        </p:txBody>
      </p:sp>
    </p:spTree>
    <p:extLst>
      <p:ext uri="{BB962C8B-B14F-4D97-AF65-F5344CB8AC3E}">
        <p14:creationId xmlns:p14="http://schemas.microsoft.com/office/powerpoint/2010/main" val="855223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линия, круг&#10;&#10;Автоматически созданное описание">
            <a:extLst>
              <a:ext uri="{FF2B5EF4-FFF2-40B4-BE49-F238E27FC236}">
                <a16:creationId xmlns:a16="http://schemas.microsoft.com/office/drawing/2014/main" id="{36CA5531-0CC4-A435-C571-D03258964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979" y="1873950"/>
            <a:ext cx="3997829" cy="390795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8C989E9-04CF-D24C-459A-411A000814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666" y="1825956"/>
            <a:ext cx="4726334" cy="4421570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6D24553-23AB-8D92-20DD-E21A805FA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728664"/>
            <a:ext cx="10080625" cy="678796"/>
          </a:xfrm>
        </p:spPr>
        <p:txBody>
          <a:bodyPr>
            <a:normAutofit/>
          </a:bodyPr>
          <a:lstStyle/>
          <a:p>
            <a:r>
              <a:rPr lang="ru-RU" sz="4000" dirty="0"/>
              <a:t>Звездчатые и веерные многоугольники</a:t>
            </a:r>
          </a:p>
        </p:txBody>
      </p:sp>
    </p:spTree>
    <p:extLst>
      <p:ext uri="{BB962C8B-B14F-4D97-AF65-F5344CB8AC3E}">
        <p14:creationId xmlns:p14="http://schemas.microsoft.com/office/powerpoint/2010/main" val="4185973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CC4E43-432F-FF98-376F-55D04A47F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Многоугольник с покрытыми стенами</a:t>
            </a:r>
          </a:p>
        </p:txBody>
      </p:sp>
      <p:pic>
        <p:nvPicPr>
          <p:cNvPr id="5" name="Объект 4" descr="Изображение выглядит как линия, диаграмма, Параллельный, График&#10;&#10;Автоматически созданное описание">
            <a:extLst>
              <a:ext uri="{FF2B5EF4-FFF2-40B4-BE49-F238E27FC236}">
                <a16:creationId xmlns:a16="http://schemas.microsoft.com/office/drawing/2014/main" id="{7FBEAAA4-25BF-5F5A-A161-054399257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049" y="1825625"/>
            <a:ext cx="3681901" cy="4351338"/>
          </a:xfrm>
        </p:spPr>
      </p:pic>
    </p:spTree>
    <p:extLst>
      <p:ext uri="{BB962C8B-B14F-4D97-AF65-F5344CB8AC3E}">
        <p14:creationId xmlns:p14="http://schemas.microsoft.com/office/powerpoint/2010/main" val="2571953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D29F20A-2427-966B-F9DE-8D08B91BBE73}"/>
              </a:ext>
            </a:extLst>
          </p:cNvPr>
          <p:cNvSpPr txBox="1">
            <a:spLocks/>
          </p:cNvSpPr>
          <p:nvPr/>
        </p:nvSpPr>
        <p:spPr>
          <a:xfrm>
            <a:off x="1055688" y="728664"/>
            <a:ext cx="10080625" cy="6787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Разбиение на компоненты видимости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85357B-E1EA-4CAE-ADAF-69E4C4944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4585" y="1998147"/>
            <a:ext cx="3409005" cy="336681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21F928F-6088-7EB3-7603-A7E1E626C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152" y="1877515"/>
            <a:ext cx="3271078" cy="364352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A283B3A-9EDB-7FA4-E3E8-F6975C739B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00" y="1998147"/>
            <a:ext cx="4160515" cy="328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404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>
            <a:extLst>
              <a:ext uri="{FF2B5EF4-FFF2-40B4-BE49-F238E27FC236}">
                <a16:creationId xmlns:a16="http://schemas.microsoft.com/office/drawing/2014/main" id="{36CA5298-7C21-7200-6C14-9D599889A17F}"/>
              </a:ext>
            </a:extLst>
          </p:cNvPr>
          <p:cNvSpPr/>
          <p:nvPr/>
        </p:nvSpPr>
        <p:spPr>
          <a:xfrm>
            <a:off x="5725177" y="2675236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87A471E0-E7BA-A3A0-A4BF-AEBD6F2C6890}"/>
              </a:ext>
            </a:extLst>
          </p:cNvPr>
          <p:cNvSpPr/>
          <p:nvPr/>
        </p:nvSpPr>
        <p:spPr>
          <a:xfrm>
            <a:off x="4723796" y="2675236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2352E168-6D39-0ECF-B6C3-3BC87366477D}"/>
              </a:ext>
            </a:extLst>
          </p:cNvPr>
          <p:cNvSpPr/>
          <p:nvPr/>
        </p:nvSpPr>
        <p:spPr>
          <a:xfrm>
            <a:off x="6726558" y="2675237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C344E232-BB96-646D-1A80-2FC592BFA6FB}"/>
              </a:ext>
            </a:extLst>
          </p:cNvPr>
          <p:cNvSpPr/>
          <p:nvPr/>
        </p:nvSpPr>
        <p:spPr>
          <a:xfrm>
            <a:off x="5725177" y="3323967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3C4DD965-5CBC-E08C-D7D9-609CA0C02AC8}"/>
              </a:ext>
            </a:extLst>
          </p:cNvPr>
          <p:cNvSpPr/>
          <p:nvPr/>
        </p:nvSpPr>
        <p:spPr>
          <a:xfrm>
            <a:off x="4723796" y="3323967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F9823872-924B-2122-69CE-6E513566986C}"/>
              </a:ext>
            </a:extLst>
          </p:cNvPr>
          <p:cNvSpPr/>
          <p:nvPr/>
        </p:nvSpPr>
        <p:spPr>
          <a:xfrm>
            <a:off x="6726558" y="3323968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4AD0AA00-E293-5205-F2F2-72DDD4B187BE}"/>
              </a:ext>
            </a:extLst>
          </p:cNvPr>
          <p:cNvSpPr/>
          <p:nvPr/>
        </p:nvSpPr>
        <p:spPr>
          <a:xfrm>
            <a:off x="5725177" y="3972698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429C1C95-A94E-E5B6-D8A4-4E5C9326E7AC}"/>
              </a:ext>
            </a:extLst>
          </p:cNvPr>
          <p:cNvSpPr/>
          <p:nvPr/>
        </p:nvSpPr>
        <p:spPr>
          <a:xfrm>
            <a:off x="4723796" y="3972698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3EA37454-C7C1-EF56-7736-6193E0BB7ADA}"/>
              </a:ext>
            </a:extLst>
          </p:cNvPr>
          <p:cNvSpPr/>
          <p:nvPr/>
        </p:nvSpPr>
        <p:spPr>
          <a:xfrm>
            <a:off x="6726558" y="3972699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94900891-A796-B462-2E54-F2D7B9C8D087}"/>
              </a:ext>
            </a:extLst>
          </p:cNvPr>
          <p:cNvSpPr/>
          <p:nvPr/>
        </p:nvSpPr>
        <p:spPr>
          <a:xfrm>
            <a:off x="5725177" y="4621429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C085BBDF-308F-DFB1-AFDE-FBF75BC1DD83}"/>
              </a:ext>
            </a:extLst>
          </p:cNvPr>
          <p:cNvSpPr/>
          <p:nvPr/>
        </p:nvSpPr>
        <p:spPr>
          <a:xfrm>
            <a:off x="4723796" y="4621429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C03B6B4C-76A4-ECB7-9979-2B60933D837A}"/>
              </a:ext>
            </a:extLst>
          </p:cNvPr>
          <p:cNvSpPr/>
          <p:nvPr/>
        </p:nvSpPr>
        <p:spPr>
          <a:xfrm>
            <a:off x="6726558" y="4621430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12EBC4D-A19A-F223-FF7B-07D6A60259B7}"/>
              </a:ext>
            </a:extLst>
          </p:cNvPr>
          <p:cNvSpPr/>
          <p:nvPr/>
        </p:nvSpPr>
        <p:spPr>
          <a:xfrm>
            <a:off x="4511489" y="2366682"/>
            <a:ext cx="625288" cy="2736477"/>
          </a:xfrm>
          <a:prstGeom prst="rect">
            <a:avLst/>
          </a:prstGeom>
          <a:solidFill>
            <a:srgbClr val="1C777C">
              <a:alpha val="20000"/>
            </a:srgbClr>
          </a:solidFill>
          <a:ln>
            <a:solidFill>
              <a:srgbClr val="1C77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B5E0E7F-74A1-47E3-BC82-0C39ECC6B976}"/>
              </a:ext>
            </a:extLst>
          </p:cNvPr>
          <p:cNvSpPr/>
          <p:nvPr/>
        </p:nvSpPr>
        <p:spPr>
          <a:xfrm>
            <a:off x="5517565" y="2366682"/>
            <a:ext cx="625288" cy="2736477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00ECBD3-29B2-F4AD-97F0-E474262D4573}"/>
              </a:ext>
            </a:extLst>
          </p:cNvPr>
          <p:cNvSpPr/>
          <p:nvPr/>
        </p:nvSpPr>
        <p:spPr>
          <a:xfrm>
            <a:off x="6523641" y="2366681"/>
            <a:ext cx="625288" cy="2736477"/>
          </a:xfrm>
          <a:prstGeom prst="rect">
            <a:avLst/>
          </a:prstGeom>
          <a:solidFill>
            <a:srgbClr val="002060">
              <a:alpha val="2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A5370BB-3BFA-5039-A3AA-C0FF79D8B4D9}"/>
              </a:ext>
            </a:extLst>
          </p:cNvPr>
          <p:cNvSpPr/>
          <p:nvPr/>
        </p:nvSpPr>
        <p:spPr>
          <a:xfrm>
            <a:off x="4294594" y="2502700"/>
            <a:ext cx="2016741" cy="1198334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DBF5C4E-FA24-E19D-DC4A-0DB03B4296C0}"/>
              </a:ext>
            </a:extLst>
          </p:cNvPr>
          <p:cNvSpPr/>
          <p:nvPr/>
        </p:nvSpPr>
        <p:spPr>
          <a:xfrm>
            <a:off x="5399729" y="3085100"/>
            <a:ext cx="916302" cy="1198334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4BFBB6C-BB03-26C8-AF6B-44119DE96DCC}"/>
              </a:ext>
            </a:extLst>
          </p:cNvPr>
          <p:cNvSpPr/>
          <p:nvPr/>
        </p:nvSpPr>
        <p:spPr>
          <a:xfrm>
            <a:off x="6314002" y="3085100"/>
            <a:ext cx="1001198" cy="615934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2919883-C3E9-CC88-1E57-C24D25E01245}"/>
              </a:ext>
            </a:extLst>
          </p:cNvPr>
          <p:cNvSpPr/>
          <p:nvPr/>
        </p:nvSpPr>
        <p:spPr>
          <a:xfrm>
            <a:off x="6394472" y="2502699"/>
            <a:ext cx="920728" cy="505855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4C0AB78-A195-E6AC-14A4-D0E6B31FB750}"/>
              </a:ext>
            </a:extLst>
          </p:cNvPr>
          <p:cNvSpPr/>
          <p:nvPr/>
        </p:nvSpPr>
        <p:spPr>
          <a:xfrm>
            <a:off x="4294594" y="3759455"/>
            <a:ext cx="3020606" cy="531159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C0EBD24A-7F31-8971-4D22-B009549423CC}"/>
              </a:ext>
            </a:extLst>
          </p:cNvPr>
          <p:cNvSpPr txBox="1">
            <a:spLocks/>
          </p:cNvSpPr>
          <p:nvPr/>
        </p:nvSpPr>
        <p:spPr>
          <a:xfrm>
            <a:off x="1055688" y="728664"/>
            <a:ext cx="10080625" cy="705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Минимальное покрытие множеств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4028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F9ED2-E623-F791-924E-5C5AE9C12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728664"/>
            <a:ext cx="10080625" cy="705690"/>
          </a:xfrm>
        </p:spPr>
        <p:txBody>
          <a:bodyPr/>
          <a:lstStyle/>
          <a:p>
            <a:r>
              <a:rPr lang="ru-RU" dirty="0"/>
              <a:t>Минимальное покрытие множеств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0607CDB-7A65-6793-FB7D-D847ABBB7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17" y="1852272"/>
            <a:ext cx="4376855" cy="4014923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4F109AA-7823-C74F-9253-EFBDB8869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413" y="1882892"/>
            <a:ext cx="3717781" cy="3768594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88C9D897-B0F7-2BDF-3FB0-3F33E9A047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532" y="2005166"/>
            <a:ext cx="3717781" cy="370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97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EEB798-B493-F642-B997-2F7E13D6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728663"/>
            <a:ext cx="10515600" cy="822231"/>
          </a:xfrm>
        </p:spPr>
        <p:txBody>
          <a:bodyPr>
            <a:normAutofit/>
          </a:bodyPr>
          <a:lstStyle/>
          <a:p>
            <a:r>
              <a:rPr lang="ru-RU" dirty="0"/>
              <a:t>Сложность алгоритма</a:t>
            </a:r>
          </a:p>
        </p:txBody>
      </p:sp>
      <p:pic>
        <p:nvPicPr>
          <p:cNvPr id="5" name="Объект 4" descr="Изображение выглядит как текст, снимок экрана, Шрифт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ED01682E-BD0E-47CA-FFB3-64CFEC2D8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578" y="1825625"/>
            <a:ext cx="7324843" cy="4351338"/>
          </a:xfrm>
        </p:spPr>
      </p:pic>
    </p:spTree>
    <p:extLst>
      <p:ext uri="{BB962C8B-B14F-4D97-AF65-F5344CB8AC3E}">
        <p14:creationId xmlns:p14="http://schemas.microsoft.com/office/powerpoint/2010/main" val="1017895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49CC9AFD-FE81-3C99-FD17-8A2664CBF2A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37904584"/>
                  </p:ext>
                </p:extLst>
              </p:nvPr>
            </p:nvGraphicFramePr>
            <p:xfrm>
              <a:off x="2151529" y="2098038"/>
              <a:ext cx="7887822" cy="169368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29274">
                      <a:extLst>
                        <a:ext uri="{9D8B030D-6E8A-4147-A177-3AD203B41FA5}">
                          <a16:colId xmlns:a16="http://schemas.microsoft.com/office/drawing/2014/main" val="1026147328"/>
                        </a:ext>
                      </a:extLst>
                    </a:gridCol>
                    <a:gridCol w="2629274">
                      <a:extLst>
                        <a:ext uri="{9D8B030D-6E8A-4147-A177-3AD203B41FA5}">
                          <a16:colId xmlns:a16="http://schemas.microsoft.com/office/drawing/2014/main" val="1690613314"/>
                        </a:ext>
                      </a:extLst>
                    </a:gridCol>
                    <a:gridCol w="2629274">
                      <a:extLst>
                        <a:ext uri="{9D8B030D-6E8A-4147-A177-3AD203B41FA5}">
                          <a16:colId xmlns:a16="http://schemas.microsoft.com/office/drawing/2014/main" val="1135114903"/>
                        </a:ext>
                      </a:extLst>
                    </a:gridCol>
                  </a:tblGrid>
                  <a:tr h="519609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Название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Тип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Сложность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6426156"/>
                      </a:ext>
                    </a:extLst>
                  </a:tr>
                  <a:tr h="654471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Аппроксимационный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21114923"/>
                      </a:ext>
                    </a:extLst>
                  </a:tr>
                  <a:tr h="519609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Алгоритм Гхоша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Аппроксимационный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ru-RU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log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⁡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81311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49CC9AFD-FE81-3C99-FD17-8A2664CBF2A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37904584"/>
                  </p:ext>
                </p:extLst>
              </p:nvPr>
            </p:nvGraphicFramePr>
            <p:xfrm>
              <a:off x="2151529" y="2098038"/>
              <a:ext cx="7887822" cy="169368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29274">
                      <a:extLst>
                        <a:ext uri="{9D8B030D-6E8A-4147-A177-3AD203B41FA5}">
                          <a16:colId xmlns:a16="http://schemas.microsoft.com/office/drawing/2014/main" val="1026147328"/>
                        </a:ext>
                      </a:extLst>
                    </a:gridCol>
                    <a:gridCol w="2629274">
                      <a:extLst>
                        <a:ext uri="{9D8B030D-6E8A-4147-A177-3AD203B41FA5}">
                          <a16:colId xmlns:a16="http://schemas.microsoft.com/office/drawing/2014/main" val="1690613314"/>
                        </a:ext>
                      </a:extLst>
                    </a:gridCol>
                    <a:gridCol w="2629274">
                      <a:extLst>
                        <a:ext uri="{9D8B030D-6E8A-4147-A177-3AD203B41FA5}">
                          <a16:colId xmlns:a16="http://schemas.microsoft.com/office/drawing/2014/main" val="1135114903"/>
                        </a:ext>
                      </a:extLst>
                    </a:gridCol>
                  </a:tblGrid>
                  <a:tr h="519609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Название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Тип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Сложность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6426156"/>
                      </a:ext>
                    </a:extLst>
                  </a:tr>
                  <a:tr h="654471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Аппроксимационный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21114923"/>
                      </a:ext>
                    </a:extLst>
                  </a:tr>
                  <a:tr h="519609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Алгоритм Гхоша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Аппроксимационный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229070" r="-463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813114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D604D59-1702-3C0A-F615-70F86A88533B}"/>
              </a:ext>
            </a:extLst>
          </p:cNvPr>
          <p:cNvSpPr txBox="1">
            <a:spLocks/>
          </p:cNvSpPr>
          <p:nvPr/>
        </p:nvSpPr>
        <p:spPr>
          <a:xfrm>
            <a:off x="1055688" y="728664"/>
            <a:ext cx="10080625" cy="705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Лучшие алгоритмы</a:t>
            </a:r>
          </a:p>
        </p:txBody>
      </p:sp>
    </p:spTree>
    <p:extLst>
      <p:ext uri="{BB962C8B-B14F-4D97-AF65-F5344CB8AC3E}">
        <p14:creationId xmlns:p14="http://schemas.microsoft.com/office/powerpoint/2010/main" val="3065853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477AD6D6-BB24-C4ED-C2AB-A743677A368F}"/>
              </a:ext>
            </a:extLst>
          </p:cNvPr>
          <p:cNvSpPr txBox="1">
            <a:spLocks/>
          </p:cNvSpPr>
          <p:nvPr/>
        </p:nvSpPr>
        <p:spPr>
          <a:xfrm>
            <a:off x="1055688" y="728664"/>
            <a:ext cx="10080625" cy="705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Куда развиваться?</a:t>
            </a:r>
          </a:p>
        </p:txBody>
      </p:sp>
      <p:pic>
        <p:nvPicPr>
          <p:cNvPr id="6" name="Объект 5" descr="Изображение выглядит как текст, снимок экрана, человек&#10;&#10;Автоматически созданное описание">
            <a:extLst>
              <a:ext uri="{FF2B5EF4-FFF2-40B4-BE49-F238E27FC236}">
                <a16:creationId xmlns:a16="http://schemas.microsoft.com/office/drawing/2014/main" id="{53596DB1-3DC9-6E4F-4790-CA001E9C83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90" y="1777998"/>
            <a:ext cx="5912505" cy="4351338"/>
          </a:xfrm>
        </p:spPr>
      </p:pic>
      <p:pic>
        <p:nvPicPr>
          <p:cNvPr id="9" name="Рисунок 8" descr="Изображение выглядит как диаграмма, снимок экрана, мультфильм, линия&#10;&#10;Автоматически созданное описание">
            <a:extLst>
              <a:ext uri="{FF2B5EF4-FFF2-40B4-BE49-F238E27FC236}">
                <a16:creationId xmlns:a16="http://schemas.microsoft.com/office/drawing/2014/main" id="{801DD27C-1B0B-AD2A-B8DC-DF278636E1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220" y="1948327"/>
            <a:ext cx="5659890" cy="353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277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96CC66C-666A-C920-E1EC-DD9D506E70EB}"/>
              </a:ext>
            </a:extLst>
          </p:cNvPr>
          <p:cNvSpPr txBox="1">
            <a:spLocks/>
          </p:cNvSpPr>
          <p:nvPr/>
        </p:nvSpPr>
        <p:spPr>
          <a:xfrm>
            <a:off x="1055688" y="728664"/>
            <a:ext cx="10080625" cy="705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Список литературы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1D3E4A0C-7F14-2260-6E2F-4D65AF898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1936470"/>
            <a:ext cx="10080625" cy="379197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400" dirty="0"/>
              <a:t>Александер Д., Стоун М. Доказательства из Книги. Лучшие доказательства со времен Евклида до наших дней: пер. с англ.–М.: Мир, 2006. – 256 с.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400" dirty="0"/>
              <a:t>О'Рурк, Дж.; Суповит, К. Некоторые результаты теории информации / Дж. О'Рурк, К. Суповит // </a:t>
            </a:r>
            <a:r>
              <a:rPr lang="en-US" sz="2400" dirty="0"/>
              <a:t>IEEE Transactions on Information Theory. – 1983. – </a:t>
            </a:r>
            <a:r>
              <a:rPr lang="ru-RU" sz="2400" dirty="0"/>
              <a:t>Т. 29, № 2. – С. 181–190. – </a:t>
            </a:r>
            <a:r>
              <a:rPr lang="en-US" sz="2400" dirty="0"/>
              <a:t>DOI: 10.1109/TIT.1983.1056648.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400" dirty="0"/>
              <a:t>О’Рурк Дж. </a:t>
            </a:r>
            <a:r>
              <a:rPr lang="en-US" sz="2400" dirty="0"/>
              <a:t>Computational Geometry in C. </a:t>
            </a:r>
            <a:r>
              <a:rPr lang="ru-RU" sz="2400" dirty="0"/>
              <a:t>Второе издание. – </a:t>
            </a:r>
            <a:r>
              <a:rPr lang="en-US" sz="2400" dirty="0"/>
              <a:t>Cambridge: Cambridge University Press, 1998. – 376 </a:t>
            </a:r>
            <a:r>
              <a:rPr lang="ru-RU" sz="2400" dirty="0"/>
              <a:t>с.</a:t>
            </a:r>
          </a:p>
        </p:txBody>
      </p:sp>
    </p:spTree>
    <p:extLst>
      <p:ext uri="{BB962C8B-B14F-4D97-AF65-F5344CB8AC3E}">
        <p14:creationId xmlns:p14="http://schemas.microsoft.com/office/powerpoint/2010/main" val="2362857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96CC66C-666A-C920-E1EC-DD9D506E70EB}"/>
              </a:ext>
            </a:extLst>
          </p:cNvPr>
          <p:cNvSpPr txBox="1">
            <a:spLocks/>
          </p:cNvSpPr>
          <p:nvPr/>
        </p:nvSpPr>
        <p:spPr>
          <a:xfrm>
            <a:off x="1055688" y="728664"/>
            <a:ext cx="10080625" cy="705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Список литературы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1D3E4A0C-7F14-2260-6E2F-4D65AF898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1936470"/>
            <a:ext cx="10080625" cy="379197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400" dirty="0"/>
              <a:t>О’Рурк Дж. Теоремы и алгоритмы о художественной галерее: монография / Джозеф О’Рурк. – Нью-Йорк: </a:t>
            </a:r>
            <a:r>
              <a:rPr lang="en-US" sz="2400" dirty="0"/>
              <a:t>Oxford University Press, 1987. – 280 </a:t>
            </a:r>
            <a:r>
              <a:rPr lang="ru-RU" sz="2400" dirty="0"/>
              <a:t>с. – (Международная серия монографий по компьютерным наукам).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400" dirty="0"/>
              <a:t>Шермер Т.К. Последние результаты о художественных галереях / Томас К. Шермер. – </a:t>
            </a:r>
            <a:r>
              <a:rPr lang="en-US" sz="2400" dirty="0"/>
              <a:t>Proceedings of the IEEE, 1992. – 280 </a:t>
            </a:r>
            <a:r>
              <a:rPr lang="ru-RU" sz="2400" dirty="0"/>
              <a:t>с.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400" dirty="0"/>
              <a:t>Хертель С., Мельхорн К. (1985). Быстрая триангуляция плоскости относительно простых многоугольников.</a:t>
            </a:r>
          </a:p>
        </p:txBody>
      </p:sp>
    </p:spTree>
    <p:extLst>
      <p:ext uri="{BB962C8B-B14F-4D97-AF65-F5344CB8AC3E}">
        <p14:creationId xmlns:p14="http://schemas.microsoft.com/office/powerpoint/2010/main" val="6537545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6791</TotalTime>
  <Words>545</Words>
  <Application>Microsoft Office PowerPoint</Application>
  <PresentationFormat>Широкоэкранный</PresentationFormat>
  <Paragraphs>52</Paragraphs>
  <Slides>21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Тема Office</vt:lpstr>
      <vt:lpstr>Расстановка охранников  в художественной галерее</vt:lpstr>
      <vt:lpstr>Формулировка задачи</vt:lpstr>
      <vt:lpstr>Математическая модель</vt:lpstr>
      <vt:lpstr>Доказательство. (Стив Фикс 1982 г.)</vt:lpstr>
      <vt:lpstr>Доказательство</vt:lpstr>
      <vt:lpstr>Доказательство</vt:lpstr>
      <vt:lpstr>Презентация PowerPoint</vt:lpstr>
      <vt:lpstr>Цель</vt:lpstr>
      <vt:lpstr>Задачи</vt:lpstr>
      <vt:lpstr>Конкретизация вида задачи</vt:lpstr>
      <vt:lpstr>Выпуклые многоугольники</vt:lpstr>
      <vt:lpstr>Звездчатые и веерные многоугольники</vt:lpstr>
      <vt:lpstr>Многоугольник с покрытыми стенами</vt:lpstr>
      <vt:lpstr>Презентация PowerPoint</vt:lpstr>
      <vt:lpstr>Презентация PowerPoint</vt:lpstr>
      <vt:lpstr>Минимальное покрытие множеств</vt:lpstr>
      <vt:lpstr>Сложность алгоритма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Расстановка охранников  в художественной галерее</dc:title>
  <dc:creator>Степашка Модняш</dc:creator>
  <cp:lastModifiedBy>Степашка Модняш</cp:lastModifiedBy>
  <cp:revision>37</cp:revision>
  <dcterms:created xsi:type="dcterms:W3CDTF">2025-03-02T06:42:24Z</dcterms:created>
  <dcterms:modified xsi:type="dcterms:W3CDTF">2025-04-25T09:48:58Z</dcterms:modified>
</cp:coreProperties>
</file>