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3" r:id="rId4"/>
    <p:sldId id="292" r:id="rId5"/>
    <p:sldId id="259" r:id="rId6"/>
    <p:sldId id="262" r:id="rId7"/>
    <p:sldId id="266" r:id="rId8"/>
    <p:sldId id="261" r:id="rId9"/>
    <p:sldId id="276" r:id="rId10"/>
    <p:sldId id="277" r:id="rId11"/>
    <p:sldId id="288" r:id="rId12"/>
    <p:sldId id="263" r:id="rId13"/>
    <p:sldId id="269" r:id="rId14"/>
    <p:sldId id="270" r:id="rId15"/>
    <p:sldId id="265" r:id="rId16"/>
    <p:sldId id="271" r:id="rId17"/>
    <p:sldId id="273" r:id="rId18"/>
    <p:sldId id="264" r:id="rId19"/>
    <p:sldId id="282" r:id="rId20"/>
    <p:sldId id="281" r:id="rId21"/>
    <p:sldId id="257" r:id="rId22"/>
    <p:sldId id="272" r:id="rId23"/>
    <p:sldId id="283" r:id="rId24"/>
    <p:sldId id="274" r:id="rId25"/>
    <p:sldId id="275" r:id="rId26"/>
    <p:sldId id="286" r:id="rId27"/>
    <p:sldId id="285" r:id="rId28"/>
    <p:sldId id="279" r:id="rId29"/>
    <p:sldId id="287" r:id="rId30"/>
    <p:sldId id="290" r:id="rId31"/>
    <p:sldId id="289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7FAE-7CEB-1A8C-07CF-0A835A55A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FE4B55-3AE2-2F9C-865A-3CE6CB473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C815E-B9CA-B7A4-6B23-9383689F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D526F-CBC4-0AC5-A5DE-DDE3A3A2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DCA680-0AD8-6302-CBBB-4946ACAA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9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88644-0E93-3363-3ED5-F0605CBF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D669B-9116-B294-8072-A3545204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8E6C-54A6-F97D-9E94-9602823C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1DC0-E238-6CD3-36D4-F5E0E6D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82655-82CF-DE05-DD65-ED338ACB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84D4D-9753-D3A9-E24A-8F26BC8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DF50E-439B-5297-0538-8D873C3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2CC4-8C45-718E-8748-56850C79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9CBC-1164-0D6B-3DDE-FCA552C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1296-FFC1-D80C-5F05-236EE18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B36E-A635-31E5-20FC-0A28C044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DA0CE-33EB-ACB6-5D8C-62771B2C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5FB84-3B62-11FC-BADB-0CC331F5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03222-BCF8-BC93-199A-FB0117EA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A7554A-E3FF-755B-791D-EA0C4C67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680759-B447-516E-6784-B830157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2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3F4A-7B16-2DD9-D313-E9D893C9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B86F8-F692-920D-005E-A59C502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D940E-B132-92E1-2C20-04B44AAD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E11D4-8557-FA7E-D927-71CB8BF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9D972-1075-143C-B071-2E1788BDA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C52461-0BB6-1488-ECA3-9EE735B7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6AA5F-FFFF-4FA9-5310-67F009D1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73069-0C6C-D3F7-BC81-C6DC0271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5F4A0-94D6-0D4C-C348-EF56CA7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EC721-A186-358E-F85C-D0F77F44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AB19-BA8F-EBBC-11E3-D375A887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69F74-1E52-FF2F-8D0C-62EEC42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2EE020-CA6F-9108-4FF8-26A77D1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B28F2-528A-7DE4-AFCF-8C38E2A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57E9B-279D-DACC-2910-C558455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455E4-588B-0775-6008-828B0A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47F7F-BCF0-E21A-2815-ADCF7DF7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AFC81-F203-EAFC-0025-66C06C63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D4733-9180-06BF-F88D-EFAB9D3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EC1BBB-16DB-F7A9-B6A6-2BCDADFB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C7F0-D6BF-4AB3-9BEC-3B04256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2DED5-04C7-4AAE-DF4B-39398207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1EAA2A-1A22-06A7-1C92-EF67D656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6676A4-CF17-4211-8EDE-3ED2696B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DF13EE-27AF-BDC3-F473-83CB6B67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9E47E-6F7E-81A7-C925-1B194492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943A82-87B5-7738-E6F4-9A5C3CF9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0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DFA2F-77F1-8EB3-684A-4E926B9F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B0E2F-EE73-1E97-A84E-6F47F88A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C3890-4EDC-8027-03CC-95CA1C7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5E2E5-3107-6C9E-560D-E110A60C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4D7735-BC02-B7FF-ACAD-CB3D46C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9D3597-2524-CD9D-AD3C-0DC905AFD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BE3D2-65C8-4853-31F6-C55F57818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6249E-8C62-A318-9F82-E7F6D4F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55BF8-3977-2E2A-4E85-641F45A9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D9A94-207A-44F8-4B19-A5C6418E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7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1F760-EE1A-B1A1-CEC9-9330EF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959F-23B6-55D9-353A-FDD49907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2F3B0-A1C7-E96A-B0AA-5B3D1B7E6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4CF7-4AF6-4F22-BEAD-2FF1E49FC008}" type="datetimeFigureOut">
              <a:rPr lang="ru-RU" smtClean="0"/>
              <a:t>25.03.2025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A8AFD-931A-32B7-8484-1510FD86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58EC8-F0E9-FD89-1484-1F138B393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955EB-07EA-A618-5BD6-A23E49C79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2218"/>
            <a:ext cx="9144000" cy="2387600"/>
          </a:xfrm>
        </p:spPr>
        <p:txBody>
          <a:bodyPr/>
          <a:lstStyle/>
          <a:p>
            <a:r>
              <a:rPr lang="ru-RU" dirty="0"/>
              <a:t>Расстановка охранников </a:t>
            </a:r>
            <a:br>
              <a:rPr lang="ru-RU" dirty="0"/>
            </a:br>
            <a:r>
              <a:rPr lang="ru-RU" dirty="0"/>
              <a:t>в художественной галерее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67FEE4-C78F-3821-024E-152305C8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1982"/>
            <a:ext cx="9144000" cy="2387599"/>
          </a:xfrm>
        </p:spPr>
        <p:txBody>
          <a:bodyPr>
            <a:normAutofit/>
          </a:bodyPr>
          <a:lstStyle/>
          <a:p>
            <a:r>
              <a:rPr lang="ru-RU" dirty="0"/>
              <a:t>студент группы ПС–21 очной формы обучения</a:t>
            </a:r>
          </a:p>
          <a:p>
            <a:r>
              <a:rPr lang="ru-RU" dirty="0"/>
              <a:t>Глухарев Степан Викторович</a:t>
            </a:r>
          </a:p>
          <a:p>
            <a:r>
              <a:rPr lang="ru-RU" dirty="0"/>
              <a:t>руководитель доцент, кандидат физ-мат наук</a:t>
            </a:r>
          </a:p>
          <a:p>
            <a:r>
              <a:rPr lang="ru-RU" dirty="0"/>
              <a:t>Козлов Александр Иванович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0407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3139-BDEE-F4FF-FA2D-E225B9D24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FAC4FF-0189-8E25-81A5-2F65EA95F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Разработка и применение собственного алгоритма (громкое заявление) для решения задачи поиска минимального количества охранников. </a:t>
            </a:r>
          </a:p>
        </p:txBody>
      </p:sp>
    </p:spTree>
    <p:extLst>
      <p:ext uri="{BB962C8B-B14F-4D97-AF65-F5344CB8AC3E}">
        <p14:creationId xmlns:p14="http://schemas.microsoft.com/office/powerpoint/2010/main" val="410561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585"/>
            <a:ext cx="10306878" cy="503237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ru-RU" dirty="0"/>
              <a:t>Провести обзор существующих алгоритмов, направленных на решение задачи охраны музейной галереи, и выявить наиболее эффективные из них. </a:t>
            </a:r>
          </a:p>
          <a:p>
            <a:pPr marL="514350" indent="-514350">
              <a:buAutoNum type="arabicPeriod"/>
            </a:pPr>
            <a:r>
              <a:rPr lang="ru-RU" dirty="0"/>
              <a:t>Скорректировать выбранный алгоритм и обосновать их эффективность.</a:t>
            </a:r>
          </a:p>
          <a:p>
            <a:pPr marL="514350" indent="-514350">
              <a:buAutoNum type="arabicPeriod"/>
            </a:pPr>
            <a:r>
              <a:rPr lang="ru-RU" dirty="0"/>
              <a:t>Разработать программную реализацию модификации существующего алгоритма.</a:t>
            </a:r>
          </a:p>
          <a:p>
            <a:pPr marL="514350" indent="-514350">
              <a:buAutoNum type="arabicPeriod"/>
            </a:pPr>
            <a:r>
              <a:rPr lang="ru-RU" dirty="0"/>
              <a:t>Провести тестирование алгоритма в рамках абстрактной модели.</a:t>
            </a:r>
          </a:p>
          <a:p>
            <a:pPr marL="514350" indent="-514350">
              <a:buAutoNum type="arabicPeriod"/>
            </a:pPr>
            <a:r>
              <a:rPr lang="ru-RU" dirty="0"/>
              <a:t>Адаптировать программу к реальной модели и провести дополнительные тесты.</a:t>
            </a:r>
          </a:p>
          <a:p>
            <a:pPr marL="514350" indent="-514350">
              <a:buAutoNum type="arabicPeriod"/>
            </a:pPr>
            <a:r>
              <a:rPr lang="ru-RU" dirty="0"/>
              <a:t>Разработать графический интерфейс для удобства использования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50080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3139-BDEE-F4FF-FA2D-E225B9D24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FAC4FF-0189-8E25-81A5-2F65EA95F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Разработка и применение собственного алгоритма (громкое заявление) для решения задачи поиска минимального количества охранников. </a:t>
            </a:r>
          </a:p>
        </p:txBody>
      </p:sp>
    </p:spTree>
    <p:extLst>
      <p:ext uri="{BB962C8B-B14F-4D97-AF65-F5344CB8AC3E}">
        <p14:creationId xmlns:p14="http://schemas.microsoft.com/office/powerpoint/2010/main" val="287420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Формулировка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31CA5-7026-0B76-A8C7-C1EDB1DE4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Директор музея хочет, чтобы каждая точка музея постоянно наблюдалась охранником. Охранники располагаются в стационарных пунктах, но могут поворачиваться. Сколько охранников необходимо?</a:t>
            </a:r>
          </a:p>
        </p:txBody>
      </p:sp>
    </p:spTree>
    <p:extLst>
      <p:ext uri="{BB962C8B-B14F-4D97-AF65-F5344CB8AC3E}">
        <p14:creationId xmlns:p14="http://schemas.microsoft.com/office/powerpoint/2010/main" val="312651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Конкретизация вида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Галерея представлена простым многоугольником.</a:t>
            </a:r>
          </a:p>
          <a:p>
            <a:pPr marL="514350" indent="-514350">
              <a:buAutoNum type="arabicPeriod"/>
            </a:pPr>
            <a:r>
              <a:rPr lang="ru-RU" dirty="0"/>
              <a:t>Охранники располагаются внутри галереи (в стенах или углах в том числе).</a:t>
            </a:r>
          </a:p>
          <a:p>
            <a:pPr marL="514350" indent="-514350">
              <a:buAutoNum type="arabicPeriod"/>
            </a:pPr>
            <a:r>
              <a:rPr lang="ru-RU" dirty="0"/>
              <a:t>Охранники могут видеть во всех направлениях и не перемещаются по территории.</a:t>
            </a:r>
          </a:p>
          <a:p>
            <a:pPr marL="514350" indent="-514350">
              <a:buAutoNum type="arabicPeriod"/>
            </a:pPr>
            <a:r>
              <a:rPr lang="ru-RU" dirty="0"/>
              <a:t>Цель – минимизировать число охранников.</a:t>
            </a:r>
          </a:p>
        </p:txBody>
      </p:sp>
    </p:spTree>
    <p:extLst>
      <p:ext uri="{BB962C8B-B14F-4D97-AF65-F5344CB8AC3E}">
        <p14:creationId xmlns:p14="http://schemas.microsoft.com/office/powerpoint/2010/main" val="417395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160F9-7F65-4A0E-9AFA-F54F0F25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простого многоугольника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77A3E23-BF86-B530-A24F-5CFA1FD8D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031" y="1825625"/>
            <a:ext cx="6967937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56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363FD-6FE4-A032-0C54-EE8EDDB9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формулировка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Под многоугольником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мы понимаем часть плоскости, ограниченной простой, не самопересекающейся замкнутой ломанной. Для многоугольника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 и целого минимально возможного числа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требуется решить, существует ли множество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из k охранников внутри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, такой, что каждая точка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видна хотя бы одному охраннику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 Каждый охранник соответствует точке в многоугольнике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и мы говорим, что охранник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dirty="0"/>
                  <a:t> видит точку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если отрезок прямой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𝑝𝑔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содержится в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12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EDA70-7D44-62BF-EFA2-4CCD15B3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 знать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F8E4FC-1230-68B8-31FA-82EFA829B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Уточняющие моменты.</a:t>
            </a:r>
          </a:p>
        </p:txBody>
      </p:sp>
    </p:spTree>
    <p:extLst>
      <p:ext uri="{BB962C8B-B14F-4D97-AF65-F5344CB8AC3E}">
        <p14:creationId xmlns:p14="http://schemas.microsoft.com/office/powerpoint/2010/main" val="99885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Выпуклые многоугольники</a:t>
            </a:r>
          </a:p>
        </p:txBody>
      </p:sp>
      <p:pic>
        <p:nvPicPr>
          <p:cNvPr id="5" name="Объект 4" descr="Изображение выглядит как диаграмма, линия,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8ED7B39-277F-BE76-73A7-F2C29BF80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498" y="1510054"/>
            <a:ext cx="5449247" cy="3392812"/>
          </a:xfrm>
        </p:spPr>
      </p:pic>
      <p:pic>
        <p:nvPicPr>
          <p:cNvPr id="7" name="Рисунок 6" descr="Изображение выглядит как треугольник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5C2287FC-D039-C102-88C4-24C7D5427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564813" cy="3212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A6B241-AA3E-942F-EEDF-0E7B669FE535}"/>
              </a:ext>
            </a:extLst>
          </p:cNvPr>
          <p:cNvSpPr txBox="1"/>
          <p:nvPr/>
        </p:nvSpPr>
        <p:spPr>
          <a:xfrm>
            <a:off x="1669815" y="5401464"/>
            <a:ext cx="8852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Лемма </a:t>
            </a:r>
            <a:r>
              <a:rPr lang="ru-RU" dirty="0"/>
              <a:t>- Каждый выпуклый компонент либо полностью виден, либо полностью не виден из вершины многоугольника.</a:t>
            </a:r>
          </a:p>
        </p:txBody>
      </p:sp>
    </p:spTree>
    <p:extLst>
      <p:ext uri="{BB962C8B-B14F-4D97-AF65-F5344CB8AC3E}">
        <p14:creationId xmlns:p14="http://schemas.microsoft.com/office/powerpoint/2010/main" val="462392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C4E43-432F-FF98-376F-55D04A47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Многоугольник с покрытыми стенами</a:t>
            </a:r>
          </a:p>
        </p:txBody>
      </p:sp>
      <p:pic>
        <p:nvPicPr>
          <p:cNvPr id="5" name="Объект 4" descr="Изображение выглядит как линия, диаграмма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7FBEAAA4-25BF-5F5A-A161-05439925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49" y="1825625"/>
            <a:ext cx="3681901" cy="4351338"/>
          </a:xfrm>
        </p:spPr>
      </p:pic>
    </p:spTree>
    <p:extLst>
      <p:ext uri="{BB962C8B-B14F-4D97-AF65-F5344CB8AC3E}">
        <p14:creationId xmlns:p14="http://schemas.microsoft.com/office/powerpoint/2010/main" val="257195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4E1DD-F430-E0D5-C82C-5B128FEB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Разрешима ли задача?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182EB7-0131-4109-95DD-2B334CE32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Доказательства, </a:t>
            </a:r>
            <a:r>
              <a:rPr lang="en-US" dirty="0"/>
              <a:t>NP-</a:t>
            </a:r>
            <a:r>
              <a:rPr lang="ru-RU" dirty="0"/>
              <a:t>трудность и </a:t>
            </a:r>
            <a:r>
              <a:rPr lang="en-US" dirty="0"/>
              <a:t>NP-</a:t>
            </a:r>
            <a:r>
              <a:rPr lang="ru-RU" dirty="0"/>
              <a:t>полнота.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8404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BA249-37CA-BD45-5212-017D555C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05E6AD-CDB4-F2EC-C656-8821353929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любого музея (вида простого многоугольника) 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стенами достаточно иметь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 охранников.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05E6AD-CDB4-F2EC-C656-882135392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70" t="-5285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77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958" y="1954599"/>
            <a:ext cx="6934593" cy="4299552"/>
          </a:xfrm>
        </p:spPr>
      </p:pic>
    </p:spTree>
    <p:extLst>
      <p:ext uri="{BB962C8B-B14F-4D97-AF65-F5344CB8AC3E}">
        <p14:creationId xmlns:p14="http://schemas.microsoft.com/office/powerpoint/2010/main" val="157614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4958" y="1954599"/>
            <a:ext cx="6934593" cy="4299552"/>
          </a:xfrm>
        </p:spPr>
      </p:pic>
    </p:spTree>
    <p:extLst>
      <p:ext uri="{BB962C8B-B14F-4D97-AF65-F5344CB8AC3E}">
        <p14:creationId xmlns:p14="http://schemas.microsoft.com/office/powerpoint/2010/main" val="3094283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Текст 14">
                <a:extLst>
                  <a:ext uri="{FF2B5EF4-FFF2-40B4-BE49-F238E27FC236}">
                    <a16:creationId xmlns:a16="http://schemas.microsoft.com/office/drawing/2014/main" id="{D29A95E9-ECD6-9092-C4CA-6ADCC571B4C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1800" dirty="0"/>
                  <a:t>Всего 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ru-RU" sz="1800" dirty="0"/>
                  <a:t> вершин: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ru-RU" sz="1800" dirty="0"/>
                  <a:t> фиолетовых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ru-RU" sz="1800" dirty="0"/>
                  <a:t> красных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/>
                  <a:t>зеленых</a:t>
                </a:r>
              </a:p>
            </p:txBody>
          </p:sp>
        </mc:Choice>
        <mc:Fallback xmlns="">
          <p:sp>
            <p:nvSpPr>
              <p:cNvPr id="15" name="Текст 14">
                <a:extLst>
                  <a:ext uri="{FF2B5EF4-FFF2-40B4-BE49-F238E27FC236}">
                    <a16:creationId xmlns:a16="http://schemas.microsoft.com/office/drawing/2014/main" id="{D29A95E9-ECD6-9092-C4CA-6ADCC571B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1395" t="-1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D774AC44-056B-8856-C4B4-96C84003F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058" y="1523206"/>
            <a:ext cx="6213154" cy="381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36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Минимальное число охранников</a:t>
            </a:r>
          </a:p>
        </p:txBody>
      </p:sp>
      <p:pic>
        <p:nvPicPr>
          <p:cNvPr id="7" name="Объект 6" descr="Изображение выглядит как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0C29A138-14CE-F2D5-0BE7-65A0564B8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1690688"/>
            <a:ext cx="7391400" cy="4602379"/>
          </a:xfrm>
        </p:spPr>
      </p:pic>
    </p:spTree>
    <p:extLst>
      <p:ext uri="{BB962C8B-B14F-4D97-AF65-F5344CB8AC3E}">
        <p14:creationId xmlns:p14="http://schemas.microsoft.com/office/powerpoint/2010/main" val="793942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EB798-B493-F642-B997-2F7E13D6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задачи</a:t>
            </a:r>
          </a:p>
        </p:txBody>
      </p:sp>
      <p:pic>
        <p:nvPicPr>
          <p:cNvPr id="5" name="Объект 4" descr="Изображение выглядит как текст, снимок экрана, Шрифт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D01682E-BD0E-47CA-FFB3-64CFEC2D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578" y="1825625"/>
            <a:ext cx="7324843" cy="4351338"/>
          </a:xfrm>
        </p:spPr>
      </p:pic>
    </p:spTree>
    <p:extLst>
      <p:ext uri="{BB962C8B-B14F-4D97-AF65-F5344CB8AC3E}">
        <p14:creationId xmlns:p14="http://schemas.microsoft.com/office/powerpoint/2010/main" val="1017895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AA96B-8C88-CA84-5634-C7E9D10D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ADAB80-29CC-5D26-7D37-46F52E16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Задачи о минимальной защите вершин, точек и рёбер для многоугольников с отверстиями или без них (включая ортогональные многоугольники) являются NP-трудными.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3490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3F6D-7D49-58CE-C2CF-A9108809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вычислений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Предположим, что задано положительное целое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. Можно ли за полиномиальное время определить, достаточно 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охранников для охраны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?</a:t>
                </a:r>
              </a:p>
              <a:p>
                <a:r>
                  <a:rPr lang="ru-RU" dirty="0"/>
                  <a:t> Задача является NP-полной.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70" t="-7317" b="-28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454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4B6CA-C406-DB7D-47B2-4B1BCAA6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ru-RU" dirty="0"/>
              <a:t>Обзор существующих алгоритмов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DD8282-D544-2045-7135-90748072C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ru-RU" dirty="0"/>
              <a:t>Всего </a:t>
            </a:r>
            <a:r>
              <a:rPr lang="en-US" dirty="0"/>
              <a:t>3</a:t>
            </a:r>
            <a:r>
              <a:rPr lang="ru-RU" dirty="0"/>
              <a:t> алгоритма для моей вариации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05409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08C7D-5B2D-B6C1-6269-CDB6B430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алгоритмы будем рассматривать?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0FA868-02B3-401F-2342-EEDFD0B8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Точный алгоритм — обычный, но медленный.</a:t>
            </a:r>
          </a:p>
          <a:p>
            <a:pPr marL="0" indent="0">
              <a:buNone/>
            </a:pPr>
            <a:r>
              <a:rPr lang="ru-RU" sz="1800" dirty="0"/>
              <a:t>Эвристический — быстрый, но неточный.</a:t>
            </a:r>
          </a:p>
          <a:p>
            <a:pPr marL="0" indent="0">
              <a:buNone/>
            </a:pPr>
            <a:r>
              <a:rPr lang="ru-RU" sz="1800" dirty="0"/>
              <a:t>Аппроксимационный — не идеальный, но близкий к цели и быстрый.</a:t>
            </a:r>
          </a:p>
        </p:txBody>
      </p:sp>
    </p:spTree>
    <p:extLst>
      <p:ext uri="{BB962C8B-B14F-4D97-AF65-F5344CB8AC3E}">
        <p14:creationId xmlns:p14="http://schemas.microsoft.com/office/powerpoint/2010/main" val="3534079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5FF69-21BB-AE65-BB3E-F39E9198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аппроксимации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03D824-F84B-8689-ACDF-4DE1843C3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Алгоритм, возвращающий неоптимальные решения для задачи оптимизации, называется алгоритмом аппроксимации.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000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55FF9-92B0-07BD-B7DC-B06196AD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Лучшие алгоритмы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9934804"/>
                  </p:ext>
                </p:extLst>
              </p:nvPr>
            </p:nvGraphicFramePr>
            <p:xfrm>
              <a:off x="2152650" y="2098040"/>
              <a:ext cx="7886700" cy="2021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Кранцлера и Крюгера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Экспоненциальная (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worst-case)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log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Эйденбенца, Стамма и Видмайера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log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  <a:p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9934804"/>
                  </p:ext>
                </p:extLst>
              </p:nvPr>
            </p:nvGraphicFramePr>
            <p:xfrm>
              <a:off x="2152650" y="2098040"/>
              <a:ext cx="7886700" cy="2021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Кранцлера и Крюгера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Экспоненциальная (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worst-case)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278689" r="-46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Эйденбенца, Стамма и Видмайера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220000" r="-464" b="-1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5853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47927-2A09-2C90-A659-D29D0248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Выведение алгоритма Гоша</a:t>
            </a:r>
          </a:p>
        </p:txBody>
      </p:sp>
    </p:spTree>
    <p:extLst>
      <p:ext uri="{BB962C8B-B14F-4D97-AF65-F5344CB8AC3E}">
        <p14:creationId xmlns:p14="http://schemas.microsoft.com/office/powerpoint/2010/main" val="4181373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8C700-55ED-5E41-CACA-44899BC6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Вееры</a:t>
            </a:r>
          </a:p>
        </p:txBody>
      </p:sp>
      <p:pic>
        <p:nvPicPr>
          <p:cNvPr id="4" name="Рисунок 3" descr="Изображение выглядит как линия, круг&#10;&#10;Автоматически созданное описание">
            <a:extLst>
              <a:ext uri="{FF2B5EF4-FFF2-40B4-BE49-F238E27FC236}">
                <a16:creationId xmlns:a16="http://schemas.microsoft.com/office/drawing/2014/main" id="{36CA5531-0CC4-A435-C571-D03258964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085" y="2008420"/>
            <a:ext cx="3997829" cy="39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46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40ABE-2962-F9AF-4CC3-2B8975D9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 видимости</a:t>
            </a:r>
          </a:p>
        </p:txBody>
      </p:sp>
    </p:spTree>
    <p:extLst>
      <p:ext uri="{BB962C8B-B14F-4D97-AF65-F5344CB8AC3E}">
        <p14:creationId xmlns:p14="http://schemas.microsoft.com/office/powerpoint/2010/main" val="2396035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C4E43-432F-FF98-376F-55D04A47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Многоугольник с покрытыми стенами</a:t>
            </a:r>
          </a:p>
        </p:txBody>
      </p:sp>
      <p:pic>
        <p:nvPicPr>
          <p:cNvPr id="5" name="Объект 4" descr="Изображение выглядит как линия, диаграмма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7FBEAAA4-25BF-5F5A-A161-05439925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49" y="1825625"/>
            <a:ext cx="3681901" cy="4351338"/>
          </a:xfrm>
        </p:spPr>
      </p:pic>
    </p:spTree>
    <p:extLst>
      <p:ext uri="{BB962C8B-B14F-4D97-AF65-F5344CB8AC3E}">
        <p14:creationId xmlns:p14="http://schemas.microsoft.com/office/powerpoint/2010/main" val="1790286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29FDF-5D61-41E2-54CE-E6BC7A4F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Лемма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2E4449-C2CC-C92A-FA19-3FE153601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Простой многоугольник называется веером, если существует вершина, которая видна из всех точек внутри многоугольника. </a:t>
            </a:r>
          </a:p>
        </p:txBody>
      </p:sp>
    </p:spTree>
    <p:extLst>
      <p:ext uri="{BB962C8B-B14F-4D97-AF65-F5344CB8AC3E}">
        <p14:creationId xmlns:p14="http://schemas.microsoft.com/office/powerpoint/2010/main" val="2653548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к вееру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/>
              <p:nvPr/>
            </p:nvSpPr>
            <p:spPr>
              <a:xfrm>
                <a:off x="1669815" y="5401464"/>
                <a:ext cx="88523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1800" b="1" dirty="0"/>
                  <a:t>Королларий </a:t>
                </a:r>
                <a:r>
                  <a:rPr lang="ru-RU" sz="1800" dirty="0"/>
                  <a:t>- Для каждой вершины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/>
                  <a:t> из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800" dirty="0"/>
                  <a:t>, </a:t>
                </a:r>
                <a:r>
                  <a:rPr lang="ru-RU" dirty="0"/>
                  <a:t>веер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,</a:t>
                </a:r>
                <a:r>
                  <a:rPr lang="ru-RU" sz="1800" dirty="0"/>
                  <a:t> это объединение некоторых выпуклых компонентов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8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15" y="5401464"/>
                <a:ext cx="8852370" cy="646331"/>
              </a:xfrm>
              <a:prstGeom prst="rect">
                <a:avLst/>
              </a:prstGeom>
              <a:blipFill>
                <a:blip r:embed="rId2"/>
                <a:stretch>
                  <a:fillRect l="-620" t="-3774" r="-20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3">
            <a:extLst>
              <a:ext uri="{FF2B5EF4-FFF2-40B4-BE49-F238E27FC236}">
                <a16:creationId xmlns:a16="http://schemas.microsoft.com/office/drawing/2014/main" id="{42E07A01-12D9-B74F-F6FC-D9FD92A4F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924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9ED2-E623-F791-924E-5C5AE9C1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Минимальное покрытие множеств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36CA5298-7C21-7200-6C14-9D599889A17F}"/>
              </a:ext>
            </a:extLst>
          </p:cNvPr>
          <p:cNvSpPr/>
          <p:nvPr/>
        </p:nvSpPr>
        <p:spPr>
          <a:xfrm>
            <a:off x="5725177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7A471E0-E7BA-A3A0-A4BF-AEBD6F2C6890}"/>
              </a:ext>
            </a:extLst>
          </p:cNvPr>
          <p:cNvSpPr/>
          <p:nvPr/>
        </p:nvSpPr>
        <p:spPr>
          <a:xfrm>
            <a:off x="4723796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352E168-6D39-0ECF-B6C3-3BC87366477D}"/>
              </a:ext>
            </a:extLst>
          </p:cNvPr>
          <p:cNvSpPr/>
          <p:nvPr/>
        </p:nvSpPr>
        <p:spPr>
          <a:xfrm>
            <a:off x="6726558" y="267523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344E232-BB96-646D-1A80-2FC592BFA6FB}"/>
              </a:ext>
            </a:extLst>
          </p:cNvPr>
          <p:cNvSpPr/>
          <p:nvPr/>
        </p:nvSpPr>
        <p:spPr>
          <a:xfrm>
            <a:off x="5725177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C4DD965-5CBC-E08C-D7D9-609CA0C02AC8}"/>
              </a:ext>
            </a:extLst>
          </p:cNvPr>
          <p:cNvSpPr/>
          <p:nvPr/>
        </p:nvSpPr>
        <p:spPr>
          <a:xfrm>
            <a:off x="4723796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9823872-924B-2122-69CE-6E513566986C}"/>
              </a:ext>
            </a:extLst>
          </p:cNvPr>
          <p:cNvSpPr/>
          <p:nvPr/>
        </p:nvSpPr>
        <p:spPr>
          <a:xfrm>
            <a:off x="6726558" y="332396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AD0AA00-E293-5205-F2F2-72DDD4B187BE}"/>
              </a:ext>
            </a:extLst>
          </p:cNvPr>
          <p:cNvSpPr/>
          <p:nvPr/>
        </p:nvSpPr>
        <p:spPr>
          <a:xfrm>
            <a:off x="5725177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29C1C95-A94E-E5B6-D8A4-4E5C9326E7AC}"/>
              </a:ext>
            </a:extLst>
          </p:cNvPr>
          <p:cNvSpPr/>
          <p:nvPr/>
        </p:nvSpPr>
        <p:spPr>
          <a:xfrm>
            <a:off x="4723796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3EA37454-C7C1-EF56-7736-6193E0BB7ADA}"/>
              </a:ext>
            </a:extLst>
          </p:cNvPr>
          <p:cNvSpPr/>
          <p:nvPr/>
        </p:nvSpPr>
        <p:spPr>
          <a:xfrm>
            <a:off x="6726558" y="397269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4900891-A796-B462-2E54-F2D7B9C8D087}"/>
              </a:ext>
            </a:extLst>
          </p:cNvPr>
          <p:cNvSpPr/>
          <p:nvPr/>
        </p:nvSpPr>
        <p:spPr>
          <a:xfrm>
            <a:off x="5725177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085BBDF-308F-DFB1-AFDE-FBF75BC1DD83}"/>
              </a:ext>
            </a:extLst>
          </p:cNvPr>
          <p:cNvSpPr/>
          <p:nvPr/>
        </p:nvSpPr>
        <p:spPr>
          <a:xfrm>
            <a:off x="4723796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03B6B4C-76A4-ECB7-9979-2B60933D837A}"/>
              </a:ext>
            </a:extLst>
          </p:cNvPr>
          <p:cNvSpPr/>
          <p:nvPr/>
        </p:nvSpPr>
        <p:spPr>
          <a:xfrm>
            <a:off x="6726558" y="4621430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2EBC4D-A19A-F223-FF7B-07D6A60259B7}"/>
              </a:ext>
            </a:extLst>
          </p:cNvPr>
          <p:cNvSpPr/>
          <p:nvPr/>
        </p:nvSpPr>
        <p:spPr>
          <a:xfrm>
            <a:off x="4511489" y="2366682"/>
            <a:ext cx="625288" cy="2736477"/>
          </a:xfrm>
          <a:prstGeom prst="rect">
            <a:avLst/>
          </a:prstGeom>
          <a:solidFill>
            <a:srgbClr val="1C777C">
              <a:alpha val="20000"/>
            </a:srgbClr>
          </a:solidFill>
          <a:ln>
            <a:solidFill>
              <a:srgbClr val="1C77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B5E0E7F-74A1-47E3-BC82-0C39ECC6B976}"/>
              </a:ext>
            </a:extLst>
          </p:cNvPr>
          <p:cNvSpPr/>
          <p:nvPr/>
        </p:nvSpPr>
        <p:spPr>
          <a:xfrm>
            <a:off x="5517565" y="2366682"/>
            <a:ext cx="625288" cy="273647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00ECBD3-29B2-F4AD-97F0-E474262D4573}"/>
              </a:ext>
            </a:extLst>
          </p:cNvPr>
          <p:cNvSpPr/>
          <p:nvPr/>
        </p:nvSpPr>
        <p:spPr>
          <a:xfrm>
            <a:off x="6523641" y="2366681"/>
            <a:ext cx="625288" cy="2736477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A5370BB-3BFA-5039-A3AA-C0FF79D8B4D9}"/>
              </a:ext>
            </a:extLst>
          </p:cNvPr>
          <p:cNvSpPr/>
          <p:nvPr/>
        </p:nvSpPr>
        <p:spPr>
          <a:xfrm>
            <a:off x="4294594" y="2502700"/>
            <a:ext cx="2016741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BF5C4E-FA24-E19D-DC4A-0DB03B4296C0}"/>
              </a:ext>
            </a:extLst>
          </p:cNvPr>
          <p:cNvSpPr/>
          <p:nvPr/>
        </p:nvSpPr>
        <p:spPr>
          <a:xfrm>
            <a:off x="5399729" y="3085100"/>
            <a:ext cx="916302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BFBB6C-BB03-26C8-AF6B-44119DE96DCC}"/>
              </a:ext>
            </a:extLst>
          </p:cNvPr>
          <p:cNvSpPr/>
          <p:nvPr/>
        </p:nvSpPr>
        <p:spPr>
          <a:xfrm>
            <a:off x="6314002" y="3085100"/>
            <a:ext cx="1001198" cy="6159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2919883-C3E9-CC88-1E57-C24D25E01245}"/>
              </a:ext>
            </a:extLst>
          </p:cNvPr>
          <p:cNvSpPr/>
          <p:nvPr/>
        </p:nvSpPr>
        <p:spPr>
          <a:xfrm>
            <a:off x="6394472" y="2502699"/>
            <a:ext cx="920728" cy="505855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4C0AB78-A195-E6AC-14A4-D0E6B31FB750}"/>
              </a:ext>
            </a:extLst>
          </p:cNvPr>
          <p:cNvSpPr/>
          <p:nvPr/>
        </p:nvSpPr>
        <p:spPr>
          <a:xfrm>
            <a:off x="4294594" y="3759455"/>
            <a:ext cx="3020606" cy="531159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0282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2375</TotalTime>
  <Words>569</Words>
  <Application>Microsoft Office PowerPoint</Application>
  <PresentationFormat>Широкоэкранный</PresentationFormat>
  <Paragraphs>79</Paragraphs>
  <Slides>31</Slides>
  <Notes>0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Тема Office</vt:lpstr>
      <vt:lpstr>Расстановка охранников  в художественной галерее</vt:lpstr>
      <vt:lpstr>Цель</vt:lpstr>
      <vt:lpstr>Задачи</vt:lpstr>
      <vt:lpstr>Цель</vt:lpstr>
      <vt:lpstr>Формулировка задачи</vt:lpstr>
      <vt:lpstr>Конкретизация вида задачи</vt:lpstr>
      <vt:lpstr>Пример простого многоугольника</vt:lpstr>
      <vt:lpstr>Математическая формулировка задачи</vt:lpstr>
      <vt:lpstr>Важно знать</vt:lpstr>
      <vt:lpstr>Выпуклые многоугольники</vt:lpstr>
      <vt:lpstr>Многоугольник с покрытыми стенами</vt:lpstr>
      <vt:lpstr>Разрешима ли задача?</vt:lpstr>
      <vt:lpstr>Теорема</vt:lpstr>
      <vt:lpstr>Доказательство Стива Фикса</vt:lpstr>
      <vt:lpstr>Доказательство Стива Фикса</vt:lpstr>
      <vt:lpstr>Доказательство Стива Фикса</vt:lpstr>
      <vt:lpstr>Минимальное число охранников</vt:lpstr>
      <vt:lpstr>Решение задачи</vt:lpstr>
      <vt:lpstr>Теорема</vt:lpstr>
      <vt:lpstr>Проверка вычислений</vt:lpstr>
      <vt:lpstr>Обзор существующих алгоритмов</vt:lpstr>
      <vt:lpstr>Какие алгоритмы будем рассматривать?</vt:lpstr>
      <vt:lpstr>Определение аппроксимации</vt:lpstr>
      <vt:lpstr>Лучшие алгоритмы</vt:lpstr>
      <vt:lpstr>Выведение алгоритма Гоша</vt:lpstr>
      <vt:lpstr>Вееры</vt:lpstr>
      <vt:lpstr>Фрагмент видимости</vt:lpstr>
      <vt:lpstr>Многоугольник с покрытыми стенами</vt:lpstr>
      <vt:lpstr>Лемма</vt:lpstr>
      <vt:lpstr>Сведение к вееру</vt:lpstr>
      <vt:lpstr>Минимальное покрытие множеств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Степашка Модняш</dc:creator>
  <cp:lastModifiedBy>Степашка Модняш</cp:lastModifiedBy>
  <cp:revision>15</cp:revision>
  <dcterms:created xsi:type="dcterms:W3CDTF">2025-03-02T06:42:24Z</dcterms:created>
  <dcterms:modified xsi:type="dcterms:W3CDTF">2025-03-24T22:45:28Z</dcterms:modified>
</cp:coreProperties>
</file>