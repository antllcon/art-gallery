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2" r:id="rId4"/>
    <p:sldId id="266" r:id="rId5"/>
    <p:sldId id="261" r:id="rId6"/>
    <p:sldId id="276" r:id="rId7"/>
    <p:sldId id="277" r:id="rId8"/>
    <p:sldId id="288" r:id="rId9"/>
    <p:sldId id="263" r:id="rId10"/>
    <p:sldId id="269" r:id="rId11"/>
    <p:sldId id="270" r:id="rId12"/>
    <p:sldId id="265" r:id="rId13"/>
    <p:sldId id="271" r:id="rId14"/>
    <p:sldId id="273" r:id="rId15"/>
    <p:sldId id="264" r:id="rId16"/>
    <p:sldId id="282" r:id="rId17"/>
    <p:sldId id="281" r:id="rId18"/>
    <p:sldId id="257" r:id="rId19"/>
    <p:sldId id="272" r:id="rId20"/>
    <p:sldId id="283" r:id="rId21"/>
    <p:sldId id="274" r:id="rId22"/>
    <p:sldId id="275" r:id="rId23"/>
    <p:sldId id="286" r:id="rId24"/>
    <p:sldId id="285" r:id="rId25"/>
    <p:sldId id="279" r:id="rId26"/>
    <p:sldId id="287" r:id="rId27"/>
    <p:sldId id="290" r:id="rId28"/>
    <p:sldId id="289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C77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98" d="100"/>
          <a:sy n="98" d="100"/>
        </p:scale>
        <p:origin x="107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E47FAE-7CEB-1A8C-07CF-0A835A55A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3FE4B55-3AE2-2F9C-865A-3CE6CB473C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1C815E-B9CA-B7A4-6B23-9383689FF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DD526F-CBC4-0AC5-A5DE-DDE3A3A2F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DCA680-0AD8-6302-CBBB-4946ACAAE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794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988644-0E93-3363-3ED5-F0605CBF0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4ED669B-9116-B294-8072-A3545204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78E6C-54A6-F97D-9E94-9602823C5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061DC0-E238-6CD3-36D4-F5E0E6D4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182655-82CF-DE05-DD65-ED338ACBA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111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984D4D-9753-D3A9-E24A-8F26BC8CC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53DF50E-439B-5297-0538-8D873C366C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0A2CC4-8C45-718E-8748-56850C79B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EC9CBC-1164-0D6B-3DDE-FCA552C71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CFC1296-FFC1-D80C-5F05-236EE181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3823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61B36E-A635-31E5-20FC-0A28C0441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7DA0CE-33EB-ACB6-5D8C-62771B2C69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55FB84-3B62-11FC-BADB-0CC331F53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203222-BCF8-BC93-199A-FB0117EA3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A7554A-E3FF-755B-791D-EA0C4C67E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680759-B447-516E-6784-B830157C1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20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283F4A-7B16-2DD9-D313-E9D893C9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5B86F8-F692-920D-005E-A59C50210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4CD940E-B132-92E1-2C20-04B44AADE5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CE11D4-8557-FA7E-D927-71CB8BF0BF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5C9D972-1075-143C-B071-2E1788BDA1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5C52461-0BB6-1488-ECA3-9EE735B7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4B6AA5F-FFFF-4FA9-5310-67F009D1D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473069-0C6C-D3F7-BC81-C6DC0271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50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35F4A0-94D6-0D4C-C348-EF56CA7A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03EC721-A186-358E-F85C-D0F77F449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6EAB19-BA8F-EBBC-11E3-D375A887F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BC69F74-1E52-FF2F-8D0C-62EEC424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094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2EE020-CA6F-9108-4FF8-26A77D173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8DB28F2-528A-7DE4-AFCF-8C38E2ADF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F57E9B-279D-DACC-2910-C5584558D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918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8455E4-588B-0775-6008-828B0A65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C47F7F-BCF0-E21A-2815-ADCF7DF78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3AFC81-F203-EAFC-0025-66C06C636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AD4733-9180-06BF-F88D-EFAB9D394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3EC1BBB-16DB-F7A9-B6A6-2BCDADFB0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F6C7F0-D6BF-4AB3-9BEC-3B0425606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6545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2DED5-04C7-4AAE-DF4B-393982072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C41EAA2A-1A22-06A7-1C92-EF67D656E4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86676A4-CF17-4211-8EDE-3ED2696B8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DF13EE-27AF-BDC3-F473-83CB6B67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39E47E-6F7E-81A7-C925-1B1944920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9943A82-87B5-7738-E6F4-9A5C3CF9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30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EDFA2F-77F1-8EB3-684A-4E926B9F6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CBB0E2F-EE73-1E97-A84E-6F47F88ACA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DC3890-4EDC-8027-03CC-95CA1C7AF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835E2E5-3107-6C9E-560D-E110A60C2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4D7735-BC02-B7FF-ACAD-CB3D46C05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1033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CB9D3597-2524-CD9D-AD3C-0DC905AFD1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5CBE3D2-65C8-4853-31F6-C55F57818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A6249E-8C62-A318-9F82-E7F6D4F3E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355BF8-3977-2E2A-4E85-641F45A9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3D9A94-207A-44F8-4B19-A5C6418ED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027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1F760-EE1A-B1A1-CEC9-9330EF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F49959F-23B6-55D9-353A-FDD49907D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EA2F3B0-A1C7-E96A-B0AA-5B3D1B7E6F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B4CF7-4AF6-4F22-BEAD-2FF1E49FC008}" type="datetimeFigureOut">
              <a:rPr lang="ru-RU" smtClean="0"/>
              <a:t>06.03.2025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9A8AFD-931A-32B7-8484-1510FD869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D858EC8-F0E9-FD89-1484-1F138B393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3F016-83BD-4E70-8719-6FB82F4E2A4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63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9955EB-07EA-A618-5BD6-A23E49C79E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Расстановка охранников в художественной галерее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F67FEE4-C78F-3821-024E-152305C89E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студент группы ПС–21</a:t>
            </a:r>
          </a:p>
          <a:p>
            <a:r>
              <a:rPr lang="ru-RU" dirty="0"/>
              <a:t>очной формы обучения</a:t>
            </a:r>
          </a:p>
          <a:p>
            <a:r>
              <a:rPr lang="ru-RU" dirty="0"/>
              <a:t>Глухарев Степан Викторович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0407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3DABDE-1979-0E88-26E9-520CE9939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Формулировка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931CA5-7026-0B76-A8C7-C1EDB1DE4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Директор музея хочет, чтобы каждая точка музея постоянно наблюдалась охранником. Охранники располагаются в стационарных пунктах, но могут поворачиваться. Сколько охранников необходимо?</a:t>
            </a:r>
          </a:p>
        </p:txBody>
      </p:sp>
    </p:spTree>
    <p:extLst>
      <p:ext uri="{BB962C8B-B14F-4D97-AF65-F5344CB8AC3E}">
        <p14:creationId xmlns:p14="http://schemas.microsoft.com/office/powerpoint/2010/main" val="31265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191649-35E0-4BD9-D93F-F594B857F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Конкретизация вида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2E1678-DE54-C589-8605-47B84DF817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ru-RU" dirty="0"/>
              <a:t>Галерея представлена простым многоугольником.</a:t>
            </a:r>
          </a:p>
          <a:p>
            <a:pPr marL="514350" indent="-514350">
              <a:buAutoNum type="arabicPeriod"/>
            </a:pPr>
            <a:r>
              <a:rPr lang="ru-RU" dirty="0"/>
              <a:t>Охранники располагаются внутри галереи (в стенах или углах в том числе).</a:t>
            </a:r>
          </a:p>
          <a:p>
            <a:pPr marL="514350" indent="-514350">
              <a:buAutoNum type="arabicPeriod"/>
            </a:pPr>
            <a:r>
              <a:rPr lang="ru-RU" dirty="0"/>
              <a:t>Охранники могут видеть во всех направлениях и не перемещаются по территории.</a:t>
            </a:r>
          </a:p>
          <a:p>
            <a:pPr marL="514350" indent="-514350">
              <a:buAutoNum type="arabicPeriod"/>
            </a:pPr>
            <a:r>
              <a:rPr lang="ru-RU" dirty="0"/>
              <a:t>Цель – минимизировать число охранников.</a:t>
            </a:r>
          </a:p>
        </p:txBody>
      </p:sp>
    </p:spTree>
    <p:extLst>
      <p:ext uri="{BB962C8B-B14F-4D97-AF65-F5344CB8AC3E}">
        <p14:creationId xmlns:p14="http://schemas.microsoft.com/office/powerpoint/2010/main" val="417395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E160F9-7F65-4A0E-9AFA-F54F0F25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простого многоугольника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F77A3E23-BF86-B530-A24F-5CFA1FD8D7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2031" y="1825625"/>
            <a:ext cx="6967937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16566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363FD-6FE4-A032-0C54-EE8EDDB9B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Математическая формулировка задачи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Под многоугольником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мы понимаем часть плоскости, ограниченной простой, не самопересекающейся замкнутой ломанной. Для многоугольника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 и целого минимально возможного числа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требуется решить, существует ли множество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 из k охранников внутри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, такой, что каждая точка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/>
                  <a:t>видна хотя бы одному охраннику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ru-RU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ru-RU" dirty="0"/>
                  <a:t>. Каждый охранник соответствует точке в многоугольнике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</a:t>
                </a:r>
                <a:r>
                  <a:rPr lang="ru-RU" dirty="0"/>
                  <a:t> и мы говорим, что охранник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ru-RU" dirty="0"/>
                  <a:t> видит точку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ru-RU" dirty="0"/>
                  <a:t>, если отрезок прямой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𝑝𝑔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содержится в </a:t>
                </a:r>
                <a14:m>
                  <m:oMath xmlns:m="http://schemas.openxmlformats.org/officeDocument/2006/math">
                    <m:r>
                      <a:rPr lang="ru-RU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55B0EF4C-D9B9-FA62-DF05-F967F4B3D7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381" r="-12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21280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7EDA70-7D44-62BF-EFA2-4CCD15B3A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Важно знать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F8E4FC-1230-68B8-31FA-82EFA829B0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Уточняющие моменты.</a:t>
            </a:r>
          </a:p>
        </p:txBody>
      </p:sp>
    </p:spTree>
    <p:extLst>
      <p:ext uri="{BB962C8B-B14F-4D97-AF65-F5344CB8AC3E}">
        <p14:creationId xmlns:p14="http://schemas.microsoft.com/office/powerpoint/2010/main" val="998850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Выпуклые многоугольники</a:t>
            </a:r>
          </a:p>
        </p:txBody>
      </p:sp>
      <p:pic>
        <p:nvPicPr>
          <p:cNvPr id="5" name="Объект 4" descr="Изображение выглядит как диаграмма, линия, снимок экрана, дизайн&#10;&#10;Автоматически созданное описание">
            <a:extLst>
              <a:ext uri="{FF2B5EF4-FFF2-40B4-BE49-F238E27FC236}">
                <a16:creationId xmlns:a16="http://schemas.microsoft.com/office/drawing/2014/main" id="{68ED7B39-277F-BE76-73A7-F2C29BF809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498" y="1510054"/>
            <a:ext cx="5449247" cy="3392812"/>
          </a:xfrm>
        </p:spPr>
      </p:pic>
      <p:pic>
        <p:nvPicPr>
          <p:cNvPr id="7" name="Рисунок 6" descr="Изображение выглядит как треугольник, линия&#10;&#10;Автоматически созданное описание">
            <a:extLst>
              <a:ext uri="{FF2B5EF4-FFF2-40B4-BE49-F238E27FC236}">
                <a16:creationId xmlns:a16="http://schemas.microsoft.com/office/drawing/2014/main" id="{5C2287FC-D039-C102-88C4-24C7D54279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564813" cy="32121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A6B241-AA3E-942F-EEDF-0E7B669FE535}"/>
              </a:ext>
            </a:extLst>
          </p:cNvPr>
          <p:cNvSpPr txBox="1"/>
          <p:nvPr/>
        </p:nvSpPr>
        <p:spPr>
          <a:xfrm>
            <a:off x="1669815" y="5401464"/>
            <a:ext cx="88523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Лемма </a:t>
            </a:r>
            <a:r>
              <a:rPr lang="ru-RU" dirty="0"/>
              <a:t>- Каждый выпуклый компонент либо полностью виден, либо полностью не виден из вершины многоугольника.</a:t>
            </a:r>
          </a:p>
        </p:txBody>
      </p:sp>
    </p:spTree>
    <p:extLst>
      <p:ext uri="{BB962C8B-B14F-4D97-AF65-F5344CB8AC3E}">
        <p14:creationId xmlns:p14="http://schemas.microsoft.com/office/powerpoint/2010/main" val="462392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257195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4E1DD-F430-E0D5-C82C-5B128FEB9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Разрешима ли задача?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182EB7-0131-4109-95DD-2B334CE32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Доказательства, </a:t>
            </a:r>
            <a:r>
              <a:rPr lang="en-US" dirty="0"/>
              <a:t>NP-</a:t>
            </a:r>
            <a:r>
              <a:rPr lang="ru-RU" dirty="0"/>
              <a:t>трудность и </a:t>
            </a:r>
            <a:r>
              <a:rPr lang="en-US" dirty="0"/>
              <a:t>NP-</a:t>
            </a:r>
            <a:r>
              <a:rPr lang="ru-RU" dirty="0"/>
              <a:t>полнота.</a:t>
            </a:r>
            <a:r>
              <a:rPr lang="en-US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84040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BBA249-37CA-BD45-5212-017D555C2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05E6AD-CDB4-F2EC-C656-8821353929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ru-RU" dirty="0"/>
                  <a:t>Для любого музея (вида простого многоугольника) с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стенами достаточно иметь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u-RU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n</m:t>
                            </m:r>
                          </m:num>
                          <m:den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lang="ru-RU" dirty="0"/>
                  <a:t> охранников.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305E6AD-CDB4-F2EC-C656-8821353929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70" t="-5285" r="-8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377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1576146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DD26CB17-5505-F7F5-DBF0-EB424FE910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94958" y="1954599"/>
            <a:ext cx="6934593" cy="4299552"/>
          </a:xfrm>
        </p:spPr>
      </p:pic>
    </p:spTree>
    <p:extLst>
      <p:ext uri="{BB962C8B-B14F-4D97-AF65-F5344CB8AC3E}">
        <p14:creationId xmlns:p14="http://schemas.microsoft.com/office/powerpoint/2010/main" val="3094283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Доказательство Стива Фикса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Текст 14">
                <a:extLst>
                  <a:ext uri="{FF2B5EF4-FFF2-40B4-BE49-F238E27FC236}">
                    <a16:creationId xmlns:a16="http://schemas.microsoft.com/office/drawing/2014/main" id="{D29A95E9-ECD6-9092-C4CA-6ADCC571B4C9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ru-RU" sz="1800" dirty="0"/>
                  <a:t>Всего </a:t>
                </a: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lang="ru-RU" sz="1800" dirty="0"/>
                  <a:t> вершин: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sz="1800" dirty="0"/>
                  <a:t> фиолетовых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ru-RU" sz="1800" dirty="0"/>
                  <a:t> красных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ru-RU" sz="18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800" dirty="0"/>
                  <a:t>зеленых</a:t>
                </a:r>
              </a:p>
            </p:txBody>
          </p:sp>
        </mc:Choice>
        <mc:Fallback>
          <p:sp>
            <p:nvSpPr>
              <p:cNvPr id="15" name="Текст 14">
                <a:extLst>
                  <a:ext uri="{FF2B5EF4-FFF2-40B4-BE49-F238E27FC236}">
                    <a16:creationId xmlns:a16="http://schemas.microsoft.com/office/drawing/2014/main" id="{D29A95E9-ECD6-9092-C4CA-6ADCC571B4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blipFill>
                <a:blip r:embed="rId2"/>
                <a:stretch>
                  <a:fillRect l="-1395" t="-16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Объект 15">
            <a:extLst>
              <a:ext uri="{FF2B5EF4-FFF2-40B4-BE49-F238E27FC236}">
                <a16:creationId xmlns:a16="http://schemas.microsoft.com/office/drawing/2014/main" id="{D774AC44-056B-8856-C4B4-96C84003F4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9058" y="1523206"/>
            <a:ext cx="6213154" cy="381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036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7FB6D-43C9-68BC-0361-EB27ED633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Минимальное число охранников</a:t>
            </a:r>
          </a:p>
        </p:txBody>
      </p:sp>
      <p:pic>
        <p:nvPicPr>
          <p:cNvPr id="7" name="Объект 6" descr="Изображение выглядит как линия,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0C29A138-14CE-F2D5-0BE7-65A0564B8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1690688"/>
            <a:ext cx="7391400" cy="4602379"/>
          </a:xfrm>
        </p:spPr>
      </p:pic>
    </p:spTree>
    <p:extLst>
      <p:ext uri="{BB962C8B-B14F-4D97-AF65-F5344CB8AC3E}">
        <p14:creationId xmlns:p14="http://schemas.microsoft.com/office/powerpoint/2010/main" val="793942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EEB798-B493-F642-B997-2F7E13D69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 задачи</a:t>
            </a:r>
          </a:p>
        </p:txBody>
      </p:sp>
      <p:pic>
        <p:nvPicPr>
          <p:cNvPr id="5" name="Объект 4" descr="Изображение выглядит как текст, снимок экрана, Шрифт, черно-белый&#10;&#10;Автоматически созданное описание">
            <a:extLst>
              <a:ext uri="{FF2B5EF4-FFF2-40B4-BE49-F238E27FC236}">
                <a16:creationId xmlns:a16="http://schemas.microsoft.com/office/drawing/2014/main" id="{ED01682E-BD0E-47CA-FFB3-64CFEC2D8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578" y="1825625"/>
            <a:ext cx="7324843" cy="4351338"/>
          </a:xfrm>
        </p:spPr>
      </p:pic>
    </p:spTree>
    <p:extLst>
      <p:ext uri="{BB962C8B-B14F-4D97-AF65-F5344CB8AC3E}">
        <p14:creationId xmlns:p14="http://schemas.microsoft.com/office/powerpoint/2010/main" val="1017895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4AA96B-8C88-CA84-5634-C7E9D10D0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Теорема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ADAB80-29CC-5D26-7D37-46F52E16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Задачи о минимальной защите вершин, точек и рёбер для многоугольников с отверстиями или без них (включая ортогональные многоугольники) являются NP-трудными.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83490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33F6D-7D49-58CE-C2CF-A91088094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 вычислений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ru-RU" dirty="0"/>
                  <a:t>Предположим, что задано положительное целое число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. Можно ли за полиномиальное время определить, достаточно ли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dirty="0"/>
                  <a:t> охранников для охраны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dirty="0"/>
                  <a:t>?</a:t>
                </a:r>
              </a:p>
              <a:p>
                <a:r>
                  <a:rPr lang="ru-RU" dirty="0"/>
                  <a:t> Задача является NP-полной.</a:t>
                </a:r>
              </a:p>
            </p:txBody>
          </p:sp>
        </mc:Choice>
        <mc:Fallback>
          <p:sp>
            <p:nvSpPr>
              <p:cNvPr id="3" name="Текст 2">
                <a:extLst>
                  <a:ext uri="{FF2B5EF4-FFF2-40B4-BE49-F238E27FC236}">
                    <a16:creationId xmlns:a16="http://schemas.microsoft.com/office/drawing/2014/main" id="{816459EE-9A88-AC03-3A66-CFF0D1C8BD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870" t="-7317" b="-284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454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4B6CA-C406-DB7D-47B2-4B1BCAA69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/>
          <a:lstStyle/>
          <a:p>
            <a:r>
              <a:rPr lang="ru-RU" dirty="0"/>
              <a:t>Обзор существующих алгоритмов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0DD8282-D544-2045-7135-90748072C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/>
          <a:p>
            <a:r>
              <a:rPr lang="ru-RU" dirty="0"/>
              <a:t>Всего </a:t>
            </a:r>
            <a:r>
              <a:rPr lang="en-US" dirty="0"/>
              <a:t>3</a:t>
            </a:r>
            <a:r>
              <a:rPr lang="ru-RU" dirty="0"/>
              <a:t> алгоритма для моей вариации задачи.</a:t>
            </a:r>
          </a:p>
        </p:txBody>
      </p:sp>
    </p:spTree>
    <p:extLst>
      <p:ext uri="{BB962C8B-B14F-4D97-AF65-F5344CB8AC3E}">
        <p14:creationId xmlns:p14="http://schemas.microsoft.com/office/powerpoint/2010/main" val="2054098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008C7D-5B2D-B6C1-6269-CDB6B430A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Какие алгоритмы будем рассматривать?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0FA868-02B3-401F-2342-EEDFD0B88E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Точный алгоритм — обычный, но медленный.</a:t>
            </a:r>
          </a:p>
          <a:p>
            <a:pPr marL="0" indent="0">
              <a:buNone/>
            </a:pPr>
            <a:r>
              <a:rPr lang="ru-RU" sz="1800" dirty="0"/>
              <a:t>Эвристический — быстрый, но неточный.</a:t>
            </a:r>
          </a:p>
          <a:p>
            <a:pPr marL="0" indent="0">
              <a:buNone/>
            </a:pPr>
            <a:r>
              <a:rPr lang="ru-RU" sz="1800" dirty="0"/>
              <a:t>Аппроксимационный — не идеальный, но близкий к цели и быстрый.</a:t>
            </a:r>
          </a:p>
        </p:txBody>
      </p:sp>
    </p:spTree>
    <p:extLst>
      <p:ext uri="{BB962C8B-B14F-4D97-AF65-F5344CB8AC3E}">
        <p14:creationId xmlns:p14="http://schemas.microsoft.com/office/powerpoint/2010/main" val="353407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65FF69-21BB-AE65-BB3E-F39E9198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 аппроксимации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03D824-F84B-8689-ACDF-4DE1843C35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Алгоритм, возвращающий неоптимальные решения для задачи</a:t>
            </a:r>
          </a:p>
          <a:p>
            <a:r>
              <a:rPr lang="ru-RU" dirty="0"/>
              <a:t>оптимизации, называется алгоритмом аппроксимации.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30006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755FF9-92B0-07BD-B7DC-B06196AD3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Лучшие алгоритмы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9934804"/>
                  </p:ext>
                </p:extLst>
              </p:nvPr>
            </p:nvGraphicFramePr>
            <p:xfrm>
              <a:off x="2152650" y="2098040"/>
              <a:ext cx="7886700" cy="2021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Кранцлера и Крюгера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Экспоненциальная (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worst-case)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Эйденбенца, Стамма и Видмайера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𝑂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sz="1800" b="0" i="1" kern="1200" dirty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log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⁡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𝑛</m:t>
                                </m:r>
                                <m:r>
                                  <a:rPr lang="en-US" sz="1800" b="0" i="1" kern="1200" dirty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ru-RU" dirty="0"/>
                        </a:p>
                        <a:p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Объект 3">
                <a:extLst>
                  <a:ext uri="{FF2B5EF4-FFF2-40B4-BE49-F238E27FC236}">
                    <a16:creationId xmlns:a16="http://schemas.microsoft.com/office/drawing/2014/main" id="{49CC9AFD-FE81-3C99-FD17-8A2664CBF2A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29934804"/>
                  </p:ext>
                </p:extLst>
              </p:nvPr>
            </p:nvGraphicFramePr>
            <p:xfrm>
              <a:off x="2152650" y="2098040"/>
              <a:ext cx="7886700" cy="202184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026147328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690613314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113511490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Название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Тип алгоритма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Сложность </a:t>
                          </a:r>
                          <a:r>
                            <a:rPr lang="en-US" dirty="0"/>
                            <a:t>Big-O 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1642615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Кранцлера и Крюгера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Точный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Экспоненциальная (</a:t>
                          </a:r>
                          <a:r>
                            <a:rPr lang="en-US" sz="1800" b="0" i="0" kern="1200" dirty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  <a:cs typeface="+mn-cs"/>
                            </a:rPr>
                            <a:t>worst-case)</a:t>
                          </a:r>
                          <a:endParaRPr lang="ru-RU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2111492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Гоша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78689" r="-464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813114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Алгоритм Эйденбенца, Стамма и Видмайера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ru-RU" dirty="0"/>
                            <a:t>Аппроксимационный 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64" t="-220000" r="-464" b="-1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193959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65853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447927-2A09-2C90-A659-D29D0248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Выведение алгоритма Гоша</a:t>
            </a:r>
          </a:p>
        </p:txBody>
      </p:sp>
    </p:spTree>
    <p:extLst>
      <p:ext uri="{BB962C8B-B14F-4D97-AF65-F5344CB8AC3E}">
        <p14:creationId xmlns:p14="http://schemas.microsoft.com/office/powerpoint/2010/main" val="4181373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08C700-55ED-5E41-CACA-44899BC6B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Вееры</a:t>
            </a:r>
          </a:p>
        </p:txBody>
      </p:sp>
      <p:pic>
        <p:nvPicPr>
          <p:cNvPr id="4" name="Рисунок 3" descr="Изображение выглядит как линия, круг&#10;&#10;Автоматически созданное описание">
            <a:extLst>
              <a:ext uri="{FF2B5EF4-FFF2-40B4-BE49-F238E27FC236}">
                <a16:creationId xmlns:a16="http://schemas.microsoft.com/office/drawing/2014/main" id="{36CA5531-0CC4-A435-C571-D03258964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7085" y="2008420"/>
            <a:ext cx="3997829" cy="3907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46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D40ABE-2962-F9AF-4CC3-2B8975D9D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 видимости</a:t>
            </a:r>
          </a:p>
        </p:txBody>
      </p:sp>
    </p:spTree>
    <p:extLst>
      <p:ext uri="{BB962C8B-B14F-4D97-AF65-F5344CB8AC3E}">
        <p14:creationId xmlns:p14="http://schemas.microsoft.com/office/powerpoint/2010/main" val="23960358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CC4E43-432F-FF98-376F-55D04A47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Многоугольник с покрытыми стенами</a:t>
            </a:r>
          </a:p>
        </p:txBody>
      </p:sp>
      <p:pic>
        <p:nvPicPr>
          <p:cNvPr id="5" name="Объект 4" descr="Изображение выглядит как линия, диаграмма, Параллельный, График&#10;&#10;Автоматически созданное описание">
            <a:extLst>
              <a:ext uri="{FF2B5EF4-FFF2-40B4-BE49-F238E27FC236}">
                <a16:creationId xmlns:a16="http://schemas.microsoft.com/office/drawing/2014/main" id="{7FBEAAA4-25BF-5F5A-A161-054399257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049" y="1825625"/>
            <a:ext cx="3681901" cy="4351338"/>
          </a:xfrm>
        </p:spPr>
      </p:pic>
    </p:spTree>
    <p:extLst>
      <p:ext uri="{BB962C8B-B14F-4D97-AF65-F5344CB8AC3E}">
        <p14:creationId xmlns:p14="http://schemas.microsoft.com/office/powerpoint/2010/main" val="17902869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C29FDF-5D61-41E2-54CE-E6BC7A4F5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Лемма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C2E4449-C2CC-C92A-FA19-3FE1536012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Простой многоугольник называется веером, если существует вершина, которая видна из всех точек внутри многоугольника. </a:t>
            </a:r>
          </a:p>
        </p:txBody>
      </p:sp>
    </p:spTree>
    <p:extLst>
      <p:ext uri="{BB962C8B-B14F-4D97-AF65-F5344CB8AC3E}">
        <p14:creationId xmlns:p14="http://schemas.microsoft.com/office/powerpoint/2010/main" val="26535483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D51D08-4E36-3C59-C285-A89819162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Сведение к вееру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/>
              <p:nvPr/>
            </p:nvSpPr>
            <p:spPr>
              <a:xfrm>
                <a:off x="1669815" y="5401464"/>
                <a:ext cx="885237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ru-RU" sz="1800" b="1" dirty="0"/>
                  <a:t>Королларий </a:t>
                </a:r>
                <a:r>
                  <a:rPr lang="ru-RU" sz="1800" dirty="0"/>
                  <a:t>- Для каждой вершины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 из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800" dirty="0"/>
                  <a:t>, </a:t>
                </a:r>
                <a:r>
                  <a:rPr lang="ru-RU" dirty="0"/>
                  <a:t>веер из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,</a:t>
                </a:r>
                <a:r>
                  <a:rPr lang="ru-RU" sz="1800" dirty="0"/>
                  <a:t> это объединение некоторых выпуклых компонентов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ru-RU" sz="1800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6A6B241-AA3E-942F-EEDF-0E7B669F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9815" y="5401464"/>
                <a:ext cx="8852370" cy="646331"/>
              </a:xfrm>
              <a:prstGeom prst="rect">
                <a:avLst/>
              </a:prstGeom>
              <a:blipFill>
                <a:blip r:embed="rId2"/>
                <a:stretch>
                  <a:fillRect l="-620" t="-3774" r="-207" b="-150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Объект 3">
            <a:extLst>
              <a:ext uri="{FF2B5EF4-FFF2-40B4-BE49-F238E27FC236}">
                <a16:creationId xmlns:a16="http://schemas.microsoft.com/office/drawing/2014/main" id="{42E07A01-12D9-B74F-F6FC-D9FD92A4F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19241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F9ED2-E623-F791-924E-5C5AE9C12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Минимальное покрытие множеств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36CA5298-7C21-7200-6C14-9D599889A17F}"/>
              </a:ext>
            </a:extLst>
          </p:cNvPr>
          <p:cNvSpPr/>
          <p:nvPr/>
        </p:nvSpPr>
        <p:spPr>
          <a:xfrm>
            <a:off x="5725177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87A471E0-E7BA-A3A0-A4BF-AEBD6F2C6890}"/>
              </a:ext>
            </a:extLst>
          </p:cNvPr>
          <p:cNvSpPr/>
          <p:nvPr/>
        </p:nvSpPr>
        <p:spPr>
          <a:xfrm>
            <a:off x="4723796" y="2675236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352E168-6D39-0ECF-B6C3-3BC87366477D}"/>
              </a:ext>
            </a:extLst>
          </p:cNvPr>
          <p:cNvSpPr/>
          <p:nvPr/>
        </p:nvSpPr>
        <p:spPr>
          <a:xfrm>
            <a:off x="6726558" y="267523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C344E232-BB96-646D-1A80-2FC592BFA6FB}"/>
              </a:ext>
            </a:extLst>
          </p:cNvPr>
          <p:cNvSpPr/>
          <p:nvPr/>
        </p:nvSpPr>
        <p:spPr>
          <a:xfrm>
            <a:off x="5725177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3C4DD965-5CBC-E08C-D7D9-609CA0C02AC8}"/>
              </a:ext>
            </a:extLst>
          </p:cNvPr>
          <p:cNvSpPr/>
          <p:nvPr/>
        </p:nvSpPr>
        <p:spPr>
          <a:xfrm>
            <a:off x="4723796" y="3323967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F9823872-924B-2122-69CE-6E513566986C}"/>
              </a:ext>
            </a:extLst>
          </p:cNvPr>
          <p:cNvSpPr/>
          <p:nvPr/>
        </p:nvSpPr>
        <p:spPr>
          <a:xfrm>
            <a:off x="6726558" y="332396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4AD0AA00-E293-5205-F2F2-72DDD4B187BE}"/>
              </a:ext>
            </a:extLst>
          </p:cNvPr>
          <p:cNvSpPr/>
          <p:nvPr/>
        </p:nvSpPr>
        <p:spPr>
          <a:xfrm>
            <a:off x="5725177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>
            <a:extLst>
              <a:ext uri="{FF2B5EF4-FFF2-40B4-BE49-F238E27FC236}">
                <a16:creationId xmlns:a16="http://schemas.microsoft.com/office/drawing/2014/main" id="{429C1C95-A94E-E5B6-D8A4-4E5C9326E7AC}"/>
              </a:ext>
            </a:extLst>
          </p:cNvPr>
          <p:cNvSpPr/>
          <p:nvPr/>
        </p:nvSpPr>
        <p:spPr>
          <a:xfrm>
            <a:off x="4723796" y="3972698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Овал 12">
            <a:extLst>
              <a:ext uri="{FF2B5EF4-FFF2-40B4-BE49-F238E27FC236}">
                <a16:creationId xmlns:a16="http://schemas.microsoft.com/office/drawing/2014/main" id="{3EA37454-C7C1-EF56-7736-6193E0BB7ADA}"/>
              </a:ext>
            </a:extLst>
          </p:cNvPr>
          <p:cNvSpPr/>
          <p:nvPr/>
        </p:nvSpPr>
        <p:spPr>
          <a:xfrm>
            <a:off x="6726558" y="397269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94900891-A796-B462-2E54-F2D7B9C8D087}"/>
              </a:ext>
            </a:extLst>
          </p:cNvPr>
          <p:cNvSpPr/>
          <p:nvPr/>
        </p:nvSpPr>
        <p:spPr>
          <a:xfrm>
            <a:off x="5725177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>
            <a:extLst>
              <a:ext uri="{FF2B5EF4-FFF2-40B4-BE49-F238E27FC236}">
                <a16:creationId xmlns:a16="http://schemas.microsoft.com/office/drawing/2014/main" id="{C085BBDF-308F-DFB1-AFDE-FBF75BC1DD83}"/>
              </a:ext>
            </a:extLst>
          </p:cNvPr>
          <p:cNvSpPr/>
          <p:nvPr/>
        </p:nvSpPr>
        <p:spPr>
          <a:xfrm>
            <a:off x="4723796" y="4621429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Овал 15">
            <a:extLst>
              <a:ext uri="{FF2B5EF4-FFF2-40B4-BE49-F238E27FC236}">
                <a16:creationId xmlns:a16="http://schemas.microsoft.com/office/drawing/2014/main" id="{C03B6B4C-76A4-ECB7-9979-2B60933D837A}"/>
              </a:ext>
            </a:extLst>
          </p:cNvPr>
          <p:cNvSpPr/>
          <p:nvPr/>
        </p:nvSpPr>
        <p:spPr>
          <a:xfrm>
            <a:off x="6726558" y="4621430"/>
            <a:ext cx="210065" cy="210065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512EBC4D-A19A-F223-FF7B-07D6A60259B7}"/>
              </a:ext>
            </a:extLst>
          </p:cNvPr>
          <p:cNvSpPr/>
          <p:nvPr/>
        </p:nvSpPr>
        <p:spPr>
          <a:xfrm>
            <a:off x="4511489" y="2366682"/>
            <a:ext cx="625288" cy="2736477"/>
          </a:xfrm>
          <a:prstGeom prst="rect">
            <a:avLst/>
          </a:prstGeom>
          <a:solidFill>
            <a:srgbClr val="1C777C">
              <a:alpha val="20000"/>
            </a:srgbClr>
          </a:solidFill>
          <a:ln>
            <a:solidFill>
              <a:srgbClr val="1C777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B5E0E7F-74A1-47E3-BC82-0C39ECC6B976}"/>
              </a:ext>
            </a:extLst>
          </p:cNvPr>
          <p:cNvSpPr/>
          <p:nvPr/>
        </p:nvSpPr>
        <p:spPr>
          <a:xfrm>
            <a:off x="5517565" y="2366682"/>
            <a:ext cx="625288" cy="2736477"/>
          </a:xfrm>
          <a:prstGeom prst="rect">
            <a:avLst/>
          </a:prstGeom>
          <a:solidFill>
            <a:schemeClr val="accent5">
              <a:lumMod val="60000"/>
              <a:lumOff val="40000"/>
              <a:alpha val="2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00ECBD3-29B2-F4AD-97F0-E474262D4573}"/>
              </a:ext>
            </a:extLst>
          </p:cNvPr>
          <p:cNvSpPr/>
          <p:nvPr/>
        </p:nvSpPr>
        <p:spPr>
          <a:xfrm>
            <a:off x="6523641" y="2366681"/>
            <a:ext cx="625288" cy="2736477"/>
          </a:xfrm>
          <a:prstGeom prst="rect">
            <a:avLst/>
          </a:prstGeom>
          <a:solidFill>
            <a:srgbClr val="002060">
              <a:alpha val="20000"/>
            </a:srgb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7A5370BB-3BFA-5039-A3AA-C0FF79D8B4D9}"/>
              </a:ext>
            </a:extLst>
          </p:cNvPr>
          <p:cNvSpPr/>
          <p:nvPr/>
        </p:nvSpPr>
        <p:spPr>
          <a:xfrm>
            <a:off x="4294594" y="2502700"/>
            <a:ext cx="2016741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DBF5C4E-FA24-E19D-DC4A-0DB03B4296C0}"/>
              </a:ext>
            </a:extLst>
          </p:cNvPr>
          <p:cNvSpPr/>
          <p:nvPr/>
        </p:nvSpPr>
        <p:spPr>
          <a:xfrm>
            <a:off x="5399729" y="3085100"/>
            <a:ext cx="916302" cy="11983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4BFBB6C-BB03-26C8-AF6B-44119DE96DCC}"/>
              </a:ext>
            </a:extLst>
          </p:cNvPr>
          <p:cNvSpPr/>
          <p:nvPr/>
        </p:nvSpPr>
        <p:spPr>
          <a:xfrm>
            <a:off x="6314002" y="3085100"/>
            <a:ext cx="1001198" cy="615934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42919883-C3E9-CC88-1E57-C24D25E01245}"/>
              </a:ext>
            </a:extLst>
          </p:cNvPr>
          <p:cNvSpPr/>
          <p:nvPr/>
        </p:nvSpPr>
        <p:spPr>
          <a:xfrm>
            <a:off x="6394472" y="2502699"/>
            <a:ext cx="920728" cy="505855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04C0AB78-A195-E6AC-14A4-D0E6B31FB750}"/>
              </a:ext>
            </a:extLst>
          </p:cNvPr>
          <p:cNvSpPr/>
          <p:nvPr/>
        </p:nvSpPr>
        <p:spPr>
          <a:xfrm>
            <a:off x="4294594" y="3759455"/>
            <a:ext cx="3020606" cy="531159"/>
          </a:xfrm>
          <a:prstGeom prst="rect">
            <a:avLst/>
          </a:prstGeom>
          <a:solidFill>
            <a:schemeClr val="tx1">
              <a:lumMod val="75000"/>
              <a:lumOff val="2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40282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2337</TotalTime>
  <Words>461</Words>
  <Application>Microsoft Office PowerPoint</Application>
  <PresentationFormat>Широкоэкранный</PresentationFormat>
  <Paragraphs>68</Paragraphs>
  <Slides>28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Cambria Math</vt:lpstr>
      <vt:lpstr>Тема Office</vt:lpstr>
      <vt:lpstr>Расстановка охранников в художественной галерее</vt:lpstr>
      <vt:lpstr>Формулировка задачи</vt:lpstr>
      <vt:lpstr>Конкретизация вида задачи</vt:lpstr>
      <vt:lpstr>Пример простого многоугольника</vt:lpstr>
      <vt:lpstr>Математическая формулировка задачи</vt:lpstr>
      <vt:lpstr>Важно знать</vt:lpstr>
      <vt:lpstr>Выпуклые многоугольники</vt:lpstr>
      <vt:lpstr>Многоугольник с покрытыми стенами</vt:lpstr>
      <vt:lpstr>Разрешима ли задача?</vt:lpstr>
      <vt:lpstr>Теорема</vt:lpstr>
      <vt:lpstr>Доказательство Стива Фикса</vt:lpstr>
      <vt:lpstr>Доказательство Стива Фикса</vt:lpstr>
      <vt:lpstr>Доказательство Стива Фикса</vt:lpstr>
      <vt:lpstr>Минимальное число охранников</vt:lpstr>
      <vt:lpstr>Решение задачи</vt:lpstr>
      <vt:lpstr>Теорема</vt:lpstr>
      <vt:lpstr>Проверка вычислений</vt:lpstr>
      <vt:lpstr>Обзор существующих алгоритмов</vt:lpstr>
      <vt:lpstr>Какие алгоритмы будем рассматривать?</vt:lpstr>
      <vt:lpstr>Определение аппроксимации</vt:lpstr>
      <vt:lpstr>Лучшие алгоритмы</vt:lpstr>
      <vt:lpstr>Выведение алгоритма Гоша</vt:lpstr>
      <vt:lpstr>Вееры</vt:lpstr>
      <vt:lpstr>Фрагмент видимости</vt:lpstr>
      <vt:lpstr>Многоугольник с покрытыми стенами</vt:lpstr>
      <vt:lpstr>Лемма</vt:lpstr>
      <vt:lpstr>Сведение к вееру</vt:lpstr>
      <vt:lpstr>Минимальное покрытие множеств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Степашка Модняш</dc:creator>
  <cp:lastModifiedBy>Степашка Модняш</cp:lastModifiedBy>
  <cp:revision>13</cp:revision>
  <dcterms:created xsi:type="dcterms:W3CDTF">2025-03-02T06:42:24Z</dcterms:created>
  <dcterms:modified xsi:type="dcterms:W3CDTF">2025-03-07T08:30:19Z</dcterms:modified>
</cp:coreProperties>
</file>